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6"/>
  </p:notesMasterIdLst>
  <p:handoutMasterIdLst>
    <p:handoutMasterId r:id="rId17"/>
  </p:handoutMasterIdLst>
  <p:sldIdLst>
    <p:sldId id="2147479510" r:id="rId6"/>
    <p:sldId id="2147478866" r:id="rId7"/>
    <p:sldId id="2147478862" r:id="rId8"/>
    <p:sldId id="2147478861" r:id="rId9"/>
    <p:sldId id="2147478864" r:id="rId10"/>
    <p:sldId id="2147479513" r:id="rId11"/>
    <p:sldId id="2147479515" r:id="rId12"/>
    <p:sldId id="2147479516" r:id="rId13"/>
    <p:sldId id="2147479517" r:id="rId14"/>
    <p:sldId id="214747951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E6E6"/>
    <a:srgbClr val="FFC2C4"/>
    <a:srgbClr val="F2F4FF"/>
    <a:srgbClr val="F5F7FF"/>
    <a:srgbClr val="0004FF"/>
    <a:srgbClr val="4242FF"/>
    <a:srgbClr val="0026BF"/>
    <a:srgbClr val="0004D9"/>
    <a:srgbClr val="FC12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2F0AE6-47C9-A017-F523-B612EAC35DDB}" v="5704" dt="2026-05-06T16:15:14.805"/>
    <p1510:client id="{19D9F453-D55B-56E6-8ACD-A0C25D9A4429}" v="11" dt="2026-05-06T09:24:26.382"/>
    <p1510:client id="{35270C12-E56A-4E9A-BEDA-3749CF02AF78}" v="3440" dt="2026-05-06T17:45:00.410"/>
    <p1510:client id="{41E76150-93F5-0EBC-8C3C-36AA0A987948}" v="814" dt="2026-05-06T17:19:08.518"/>
    <p1510:client id="{50114159-315D-B33B-54E7-BC20728EF344}" v="582" dt="2026-05-06T09:22:53.555"/>
    <p1510:client id="{95151CC4-E4EF-B2E6-5F3E-3A5A0B0B756B}" v="352" dt="2026-05-06T17:36:36.835"/>
    <p1510:client id="{CE28DCEE-7D4A-9EBC-195F-6150E467A15C}" v="308" dt="2026-05-06T09:47:18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jpe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5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jpeg"/><Relationship Id="rId7" Type="http://schemas.openxmlformats.org/officeDocument/2006/relationships/image" Target="../media/image30.png"/><Relationship Id="rId12" Type="http://schemas.openxmlformats.org/officeDocument/2006/relationships/image" Target="../media/image35.jpe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11" Type="http://schemas.openxmlformats.org/officeDocument/2006/relationships/image" Target="../media/image34.jpe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7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jpe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7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5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8659" y="2925987"/>
            <a:ext cx="9338360" cy="615553"/>
          </a:xfrm>
        </p:spPr>
        <p:txBody>
          <a:bodyPr/>
          <a:lstStyle/>
          <a:p>
            <a:r>
              <a:rPr lang="en-IN" sz="4000">
                <a:solidFill>
                  <a:schemeClr val="bg1"/>
                </a:solidFill>
                <a:latin typeface="Aptos"/>
              </a:rPr>
              <a:t>MVP Presentation : Skynet Nexus</a:t>
            </a:r>
            <a:endParaRPr lang="en-IN" sz="4000">
              <a:solidFill>
                <a:schemeClr val="bg1"/>
              </a:solidFill>
              <a:latin typeface="Aptos"/>
              <a:cs typeface="Arial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>
                <a:latin typeface="Aptos"/>
              </a:rPr>
              <a:pPr/>
              <a:t>1</a:t>
            </a:fld>
            <a:endParaRPr lang="en-US"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69AF6-F0D1-BCCE-434F-B5560DA7F20F}"/>
              </a:ext>
            </a:extLst>
          </p:cNvPr>
          <p:cNvSpPr txBox="1"/>
          <p:nvPr/>
        </p:nvSpPr>
        <p:spPr>
          <a:xfrm>
            <a:off x="1262838" y="3698016"/>
            <a:ext cx="115736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Aptos"/>
                <a:cs typeface="Arial"/>
              </a:rPr>
              <a:t>Idea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3E010-B5C7-FB6B-2573-1826A233012D}"/>
              </a:ext>
            </a:extLst>
          </p:cNvPr>
          <p:cNvSpPr txBox="1"/>
          <p:nvPr/>
        </p:nvSpPr>
        <p:spPr>
          <a:xfrm>
            <a:off x="1258513" y="5461575"/>
            <a:ext cx="115736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Aptos"/>
                <a:cs typeface="Arial"/>
              </a:rPr>
              <a:t>Team Lead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68449-0AEB-BB7E-AB38-26FD625C73D0}"/>
              </a:ext>
            </a:extLst>
          </p:cNvPr>
          <p:cNvSpPr txBox="1"/>
          <p:nvPr/>
        </p:nvSpPr>
        <p:spPr>
          <a:xfrm>
            <a:off x="2607438" y="5459239"/>
            <a:ext cx="19301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Aptos"/>
                <a:cs typeface="Arial"/>
              </a:rPr>
              <a:t>Team Members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7F72C-15EE-1662-690B-B484A85E0C79}"/>
              </a:ext>
            </a:extLst>
          </p:cNvPr>
          <p:cNvSpPr txBox="1"/>
          <p:nvPr/>
        </p:nvSpPr>
        <p:spPr>
          <a:xfrm>
            <a:off x="1262352" y="4026391"/>
            <a:ext cx="7394632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/>
              </a:rPr>
              <a:t>FactoryMind Unified Agentic AI Platform for Predictive Maintenance &amp; Smart Manufacturing</a:t>
            </a:r>
            <a:endParaRPr lang="en-US" sz="2400">
              <a:solidFill>
                <a:schemeClr val="bg1"/>
              </a:solidFill>
              <a:latin typeface="Aptos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07BE8-7087-1211-2C7C-27E7A0DF733E}"/>
              </a:ext>
            </a:extLst>
          </p:cNvPr>
          <p:cNvSpPr txBox="1"/>
          <p:nvPr/>
        </p:nvSpPr>
        <p:spPr>
          <a:xfrm>
            <a:off x="1262838" y="4945483"/>
            <a:ext cx="85551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Aptos"/>
                <a:cs typeface="Arial"/>
              </a:rPr>
              <a:t>College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/>
                <a:cs typeface="Arial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C287C-B567-3DAE-A0AB-FEB44106F602}"/>
              </a:ext>
            </a:extLst>
          </p:cNvPr>
          <p:cNvSpPr txBox="1"/>
          <p:nvPr/>
        </p:nvSpPr>
        <p:spPr>
          <a:xfrm>
            <a:off x="2601669" y="4945483"/>
            <a:ext cx="387182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"/>
                <a:cs typeface="Arial"/>
              </a:rPr>
              <a:t>Panimalar Engineering College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D20A1-DFBF-AC86-40AC-B020E4A24C3E}"/>
              </a:ext>
            </a:extLst>
          </p:cNvPr>
          <p:cNvSpPr txBox="1"/>
          <p:nvPr/>
        </p:nvSpPr>
        <p:spPr>
          <a:xfrm>
            <a:off x="1258513" y="5798829"/>
            <a:ext cx="116169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Aptos"/>
                <a:cs typeface="Arial"/>
              </a:rPr>
              <a:t>Vishal I. 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5C9F8D-B745-DE98-E1F5-9ADE3EFCC95F}"/>
              </a:ext>
            </a:extLst>
          </p:cNvPr>
          <p:cNvSpPr txBox="1"/>
          <p:nvPr/>
        </p:nvSpPr>
        <p:spPr>
          <a:xfrm>
            <a:off x="2601669" y="5796663"/>
            <a:ext cx="555910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Aptos"/>
                <a:cs typeface="Arial"/>
              </a:rPr>
              <a:t> </a:t>
            </a:r>
            <a:r>
              <a:rPr lang="en-US" sz="1600" err="1">
                <a:solidFill>
                  <a:schemeClr val="bg1"/>
                </a:solidFill>
                <a:latin typeface="Aptos"/>
                <a:cs typeface="Arial"/>
              </a:rPr>
              <a:t>Deekshitha</a:t>
            </a:r>
            <a:r>
              <a:rPr lang="en-US" sz="1600">
                <a:solidFill>
                  <a:schemeClr val="bg1"/>
                </a:solidFill>
                <a:latin typeface="Aptos"/>
                <a:cs typeface="Arial"/>
              </a:rPr>
              <a:t> G </a:t>
            </a:r>
            <a:r>
              <a:rPr lang="en-US" sz="1600">
                <a:solidFill>
                  <a:schemeClr val="bg1"/>
                </a:solidFill>
                <a:latin typeface="Aptos"/>
                <a:ea typeface="+mn-lt"/>
                <a:cs typeface="+mn-lt"/>
              </a:rPr>
              <a:t>•</a:t>
            </a:r>
            <a:r>
              <a:rPr lang="en-US" sz="1600">
                <a:solidFill>
                  <a:schemeClr val="bg1"/>
                </a:solidFill>
                <a:latin typeface="Aptos"/>
                <a:cs typeface="Arial"/>
              </a:rPr>
              <a:t> Nithya Sri A </a:t>
            </a:r>
            <a:r>
              <a:rPr lang="en-US" sz="1600">
                <a:solidFill>
                  <a:schemeClr val="bg1"/>
                </a:solidFill>
                <a:latin typeface="Aptos"/>
                <a:ea typeface="+mn-lt"/>
                <a:cs typeface="+mn-lt"/>
              </a:rPr>
              <a:t>• </a:t>
            </a:r>
            <a:r>
              <a:rPr lang="en-US" sz="1600">
                <a:solidFill>
                  <a:schemeClr val="bg1"/>
                </a:solidFill>
                <a:latin typeface="Aptos"/>
                <a:cs typeface="Arial"/>
              </a:rPr>
              <a:t>Muralidharan J</a:t>
            </a:r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pto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pto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ptos"/>
            </a:endParaRPr>
          </a:p>
        </p:txBody>
      </p:sp>
      <p:pic>
        <p:nvPicPr>
          <p:cNvPr id="3" name="Content Placeholder 2" descr="A blue and purple cubes&#10;&#10;AI-generated content may be incorrect.">
            <a:extLst>
              <a:ext uri="{FF2B5EF4-FFF2-40B4-BE49-F238E27FC236}">
                <a16:creationId xmlns:a16="http://schemas.microsoft.com/office/drawing/2014/main" id="{04DB83F8-78BF-5A08-4C96-770CFE5EE046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3"/>
          <a:srcRect l="-211" t="64700" r="235" b="12616"/>
          <a:stretch>
            <a:fillRect/>
          </a:stretch>
        </p:blipFill>
        <p:spPr>
          <a:xfrm>
            <a:off x="-21567" y="1362"/>
            <a:ext cx="12306697" cy="81059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14FF90-0731-8ECF-2D82-F1755BC1A3E8}"/>
              </a:ext>
            </a:extLst>
          </p:cNvPr>
          <p:cNvSpPr/>
          <p:nvPr/>
        </p:nvSpPr>
        <p:spPr>
          <a:xfrm>
            <a:off x="453446" y="1162091"/>
            <a:ext cx="5440708" cy="4981236"/>
          </a:xfrm>
          <a:prstGeom prst="roundRect">
            <a:avLst/>
          </a:prstGeom>
          <a:solidFill>
            <a:srgbClr val="FC1219">
              <a:alpha val="2000"/>
            </a:srgbClr>
          </a:solidFill>
          <a:ln>
            <a:solidFill>
              <a:srgbClr val="FF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ptos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B0C3F-A6F6-141D-1D4F-103675AFD208}"/>
              </a:ext>
            </a:extLst>
          </p:cNvPr>
          <p:cNvSpPr txBox="1"/>
          <p:nvPr/>
        </p:nvSpPr>
        <p:spPr>
          <a:xfrm>
            <a:off x="1482323" y="1351950"/>
            <a:ext cx="2743199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chemeClr val="tx2"/>
                </a:solidFill>
                <a:latin typeface="Aptos"/>
                <a:cs typeface="Arial"/>
              </a:rPr>
              <a:t>THE </a:t>
            </a:r>
            <a:r>
              <a:rPr lang="en-US" sz="2100" b="1">
                <a:solidFill>
                  <a:srgbClr val="C00000"/>
                </a:solidFill>
                <a:latin typeface="Aptos"/>
                <a:cs typeface="Arial"/>
              </a:rPr>
              <a:t>PROBLEM</a:t>
            </a:r>
            <a:endParaRPr lang="en-US" b="1">
              <a:solidFill>
                <a:srgbClr val="C00000"/>
              </a:solidFill>
              <a:latin typeface="Aptos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366F7-FE34-3EDF-2ADC-EB6C0739D88A}"/>
              </a:ext>
            </a:extLst>
          </p:cNvPr>
          <p:cNvSpPr txBox="1"/>
          <p:nvPr/>
        </p:nvSpPr>
        <p:spPr>
          <a:xfrm>
            <a:off x="1482042" y="1675505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chemeClr val="bg1">
                    <a:lumMod val="49000"/>
                  </a:schemeClr>
                </a:solidFill>
                <a:latin typeface="Aptos"/>
                <a:cs typeface="Arial"/>
              </a:rPr>
              <a:t>A critical challenge that needs </a:t>
            </a:r>
            <a:r>
              <a:rPr lang="en-US" sz="1000">
                <a:solidFill>
                  <a:schemeClr val="bg1">
                    <a:lumMod val="49000"/>
                  </a:schemeClr>
                </a:solidFill>
                <a:latin typeface="Aptos"/>
                <a:cs typeface="Arial"/>
              </a:rPr>
              <a:t>urgent</a:t>
            </a:r>
            <a:r>
              <a:rPr lang="en-US" sz="1000" i="1">
                <a:solidFill>
                  <a:schemeClr val="bg1">
                    <a:lumMod val="49000"/>
                  </a:schemeClr>
                </a:solidFill>
                <a:latin typeface="Aptos"/>
                <a:cs typeface="Arial"/>
              </a:rPr>
              <a:t> attention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56522F-03CD-CA87-84AC-69B09DBBA4D2}"/>
              </a:ext>
            </a:extLst>
          </p:cNvPr>
          <p:cNvSpPr txBox="1"/>
          <p:nvPr/>
        </p:nvSpPr>
        <p:spPr>
          <a:xfrm>
            <a:off x="7222603" y="2573512"/>
            <a:ext cx="2720050" cy="162045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IN" sz="1600">
              <a:solidFill>
                <a:schemeClr val="tx2"/>
              </a:solidFill>
              <a:latin typeface="Apto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0D3AAA-4CB7-6B11-B432-8857797EA46D}"/>
              </a:ext>
            </a:extLst>
          </p:cNvPr>
          <p:cNvCxnSpPr/>
          <p:nvPr/>
        </p:nvCxnSpPr>
        <p:spPr>
          <a:xfrm>
            <a:off x="1379995" y="1977293"/>
            <a:ext cx="3859077" cy="3874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85A9A0-FF31-6F7E-71CB-B5D071C4EA20}"/>
              </a:ext>
            </a:extLst>
          </p:cNvPr>
          <p:cNvSpPr/>
          <p:nvPr/>
        </p:nvSpPr>
        <p:spPr>
          <a:xfrm>
            <a:off x="6110329" y="1162090"/>
            <a:ext cx="5453622" cy="4968321"/>
          </a:xfrm>
          <a:prstGeom prst="roundRect">
            <a:avLst/>
          </a:prstGeom>
          <a:solidFill>
            <a:srgbClr val="0004FF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Aptos"/>
              <a:cs typeface="Arial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032E85C-854B-07E1-3E89-C7E3AC9EF707}"/>
              </a:ext>
            </a:extLst>
          </p:cNvPr>
          <p:cNvSpPr/>
          <p:nvPr/>
        </p:nvSpPr>
        <p:spPr>
          <a:xfrm>
            <a:off x="6127965" y="1107127"/>
            <a:ext cx="914399" cy="9143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392607-19D0-404A-5E2E-96279E5C5FF8}"/>
              </a:ext>
            </a:extLst>
          </p:cNvPr>
          <p:cNvSpPr txBox="1"/>
          <p:nvPr/>
        </p:nvSpPr>
        <p:spPr>
          <a:xfrm>
            <a:off x="426201" y="207817"/>
            <a:ext cx="898841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solidFill>
                  <a:schemeClr val="bg1"/>
                </a:solidFill>
                <a:latin typeface="Aptos"/>
                <a:cs typeface="Arial"/>
              </a:rPr>
              <a:t>FactoryMind</a:t>
            </a:r>
            <a:r>
              <a:rPr lang="en-US" sz="2400">
                <a:solidFill>
                  <a:schemeClr val="bg1"/>
                </a:solidFill>
                <a:latin typeface="Aptos"/>
                <a:cs typeface="Arial"/>
              </a:rPr>
              <a:t> : Unified Agentic AI Platform</a:t>
            </a:r>
          </a:p>
          <a:p>
            <a:endParaRPr lang="en-US" sz="1600">
              <a:solidFill>
                <a:srgbClr val="000048"/>
              </a:solidFill>
              <a:latin typeface="Aptos"/>
              <a:cs typeface="Arial"/>
            </a:endParaRPr>
          </a:p>
          <a:p>
            <a:pPr algn="l"/>
            <a:endParaRPr lang="en-IN" sz="2400">
              <a:solidFill>
                <a:schemeClr val="bg1"/>
              </a:solidFill>
              <a:latin typeface="Aptos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DD518-13C0-C69A-35B7-D07F88243E8B}"/>
              </a:ext>
            </a:extLst>
          </p:cNvPr>
          <p:cNvSpPr txBox="1"/>
          <p:nvPr/>
        </p:nvSpPr>
        <p:spPr>
          <a:xfrm>
            <a:off x="7322949" y="1352841"/>
            <a:ext cx="2743199" cy="3231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 b="1">
                <a:solidFill>
                  <a:schemeClr val="accent2">
                    <a:lumMod val="49000"/>
                  </a:schemeClr>
                </a:solidFill>
                <a:latin typeface="Aptos"/>
                <a:cs typeface="Arial"/>
              </a:rPr>
              <a:t>OUR </a:t>
            </a:r>
            <a:r>
              <a:rPr lang="en-US" sz="2100" b="1">
                <a:solidFill>
                  <a:schemeClr val="accent1">
                    <a:lumMod val="76000"/>
                    <a:lumOff val="24000"/>
                  </a:schemeClr>
                </a:solidFill>
                <a:latin typeface="Aptos"/>
                <a:cs typeface="Arial"/>
              </a:rPr>
              <a:t>SOLUTION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A2BBD2-5751-5DB5-69F6-AAB6D171E45B}"/>
              </a:ext>
            </a:extLst>
          </p:cNvPr>
          <p:cNvSpPr txBox="1"/>
          <p:nvPr/>
        </p:nvSpPr>
        <p:spPr>
          <a:xfrm>
            <a:off x="7319736" y="1675503"/>
            <a:ext cx="3208149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i="1">
                <a:solidFill>
                  <a:schemeClr val="bg1">
                    <a:lumMod val="49000"/>
                  </a:schemeClr>
                </a:solidFill>
                <a:latin typeface="Aptos"/>
                <a:cs typeface="Arial"/>
              </a:rPr>
              <a:t>An intelligent , automated and future-ready approach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5D0793A-9D53-30D5-87E4-03C87461FAD3}"/>
              </a:ext>
            </a:extLst>
          </p:cNvPr>
          <p:cNvCxnSpPr>
            <a:cxnSpLocks/>
          </p:cNvCxnSpPr>
          <p:nvPr/>
        </p:nvCxnSpPr>
        <p:spPr>
          <a:xfrm>
            <a:off x="7321011" y="2009580"/>
            <a:ext cx="3859077" cy="3874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F9E018-4381-9C07-3113-067A152D0F4B}"/>
              </a:ext>
            </a:extLst>
          </p:cNvPr>
          <p:cNvSpPr/>
          <p:nvPr/>
        </p:nvSpPr>
        <p:spPr>
          <a:xfrm>
            <a:off x="802037" y="4996234"/>
            <a:ext cx="4724399" cy="907942"/>
          </a:xfrm>
          <a:prstGeom prst="roundRect">
            <a:avLst/>
          </a:prstGeom>
          <a:solidFill>
            <a:srgbClr val="C00000">
              <a:alpha val="25000"/>
            </a:srgbClr>
          </a:solidFill>
          <a:ln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56C494-93F3-7589-B5E1-86E9C5EE49D1}"/>
              </a:ext>
            </a:extLst>
          </p:cNvPr>
          <p:cNvSpPr/>
          <p:nvPr/>
        </p:nvSpPr>
        <p:spPr>
          <a:xfrm>
            <a:off x="6497662" y="4996232"/>
            <a:ext cx="4724399" cy="914399"/>
          </a:xfrm>
          <a:prstGeom prst="roundRect">
            <a:avLst/>
          </a:prstGeom>
          <a:solidFill>
            <a:srgbClr val="0026BF">
              <a:alpha val="8000"/>
            </a:srgbClr>
          </a:solidFill>
          <a:ln>
            <a:solidFill>
              <a:schemeClr val="accent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EAF3FF-4EC4-3E7A-9858-AECD352FF2A7}"/>
              </a:ext>
            </a:extLst>
          </p:cNvPr>
          <p:cNvSpPr txBox="1"/>
          <p:nvPr/>
        </p:nvSpPr>
        <p:spPr>
          <a:xfrm>
            <a:off x="1052593" y="5201586"/>
            <a:ext cx="2743199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solidFill>
                  <a:srgbClr val="C00000"/>
                </a:solidFill>
                <a:latin typeface="Aptos"/>
                <a:cs typeface="Arial"/>
              </a:rPr>
              <a:t>Impact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BF3D7B-7983-C700-ED0F-84D1E47038D5}"/>
              </a:ext>
            </a:extLst>
          </p:cNvPr>
          <p:cNvSpPr txBox="1"/>
          <p:nvPr/>
        </p:nvSpPr>
        <p:spPr>
          <a:xfrm>
            <a:off x="6793423" y="5201585"/>
            <a:ext cx="2743199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solidFill>
                  <a:schemeClr val="tx2"/>
                </a:solidFill>
                <a:latin typeface="Aptos"/>
                <a:cs typeface="Arial"/>
              </a:rPr>
              <a:t>Outcome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C67F4C-45D0-6C22-D79B-ED5A819EDFC0}"/>
              </a:ext>
            </a:extLst>
          </p:cNvPr>
          <p:cNvSpPr txBox="1"/>
          <p:nvPr/>
        </p:nvSpPr>
        <p:spPr>
          <a:xfrm>
            <a:off x="6535118" y="2198789"/>
            <a:ext cx="4724398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Our </a:t>
            </a:r>
            <a:r>
              <a:rPr lang="en-US" sz="1200" b="1">
                <a:solidFill>
                  <a:schemeClr val="tx2"/>
                </a:solidFill>
                <a:latin typeface="Aptos"/>
                <a:cs typeface="Arial"/>
              </a:rPr>
              <a:t>AI Platform </a:t>
            </a:r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monitors, predict and fix problems before they cost.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A2CD6A7-ABA9-C8EA-BCB2-8ED11382C68F}"/>
              </a:ext>
            </a:extLst>
          </p:cNvPr>
          <p:cNvSpPr/>
          <p:nvPr/>
        </p:nvSpPr>
        <p:spPr>
          <a:xfrm>
            <a:off x="6586457" y="2740907"/>
            <a:ext cx="914399" cy="914399"/>
          </a:xfrm>
          <a:prstGeom prst="roundRect">
            <a:avLst/>
          </a:prstGeom>
          <a:solidFill>
            <a:srgbClr val="F2F4FF"/>
          </a:solidFill>
          <a:ln>
            <a:solidFill>
              <a:schemeClr val="accent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B9955A7-DB71-8823-C6A5-C0542AFC47C1}"/>
              </a:ext>
            </a:extLst>
          </p:cNvPr>
          <p:cNvSpPr/>
          <p:nvPr/>
        </p:nvSpPr>
        <p:spPr>
          <a:xfrm>
            <a:off x="8962862" y="2740906"/>
            <a:ext cx="914399" cy="914399"/>
          </a:xfrm>
          <a:prstGeom prst="roundRect">
            <a:avLst/>
          </a:prstGeom>
          <a:solidFill>
            <a:srgbClr val="F2F4FF"/>
          </a:solidFill>
          <a:ln>
            <a:solidFill>
              <a:schemeClr val="accent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865F313-BDE1-DD1C-421A-7A47F3176673}"/>
              </a:ext>
            </a:extLst>
          </p:cNvPr>
          <p:cNvSpPr/>
          <p:nvPr/>
        </p:nvSpPr>
        <p:spPr>
          <a:xfrm>
            <a:off x="7781115" y="2734447"/>
            <a:ext cx="914399" cy="914399"/>
          </a:xfrm>
          <a:prstGeom prst="roundRect">
            <a:avLst/>
          </a:prstGeom>
          <a:solidFill>
            <a:srgbClr val="F2F4FF"/>
          </a:solidFill>
          <a:ln>
            <a:solidFill>
              <a:schemeClr val="accent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1651433-BD3D-CF6A-A6E9-C6CA821D2A4D}"/>
              </a:ext>
            </a:extLst>
          </p:cNvPr>
          <p:cNvSpPr/>
          <p:nvPr/>
        </p:nvSpPr>
        <p:spPr>
          <a:xfrm>
            <a:off x="10260845" y="2740905"/>
            <a:ext cx="914399" cy="914399"/>
          </a:xfrm>
          <a:prstGeom prst="roundRect">
            <a:avLst/>
          </a:prstGeom>
          <a:solidFill>
            <a:srgbClr val="F2F4FF"/>
          </a:solidFill>
          <a:ln>
            <a:solidFill>
              <a:schemeClr val="accent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6D1C59-2C73-A3E0-F9E8-A5A145F0CBAD}"/>
              </a:ext>
            </a:extLst>
          </p:cNvPr>
          <p:cNvSpPr txBox="1"/>
          <p:nvPr/>
        </p:nvSpPr>
        <p:spPr>
          <a:xfrm>
            <a:off x="6676351" y="3738062"/>
            <a:ext cx="786537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solidFill>
                  <a:schemeClr val="tx2"/>
                </a:solidFill>
                <a:latin typeface="Aptos"/>
                <a:cs typeface="Arial"/>
              </a:rPr>
              <a:t>Digital Twin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1A4D10-76AB-352A-48B2-BA0E16C37A61}"/>
              </a:ext>
            </a:extLst>
          </p:cNvPr>
          <p:cNvSpPr txBox="1"/>
          <p:nvPr/>
        </p:nvSpPr>
        <p:spPr>
          <a:xfrm>
            <a:off x="7959025" y="3755669"/>
            <a:ext cx="689674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solidFill>
                  <a:schemeClr val="tx2"/>
                </a:solidFill>
                <a:latin typeface="Aptos"/>
                <a:cs typeface="Arial"/>
              </a:rPr>
              <a:t>Vision AI</a:t>
            </a:r>
            <a:endParaRPr lang="en-US" b="1">
              <a:solidFill>
                <a:schemeClr val="tx2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6AB561-A572-5006-B9F3-AE365D741A45}"/>
              </a:ext>
            </a:extLst>
          </p:cNvPr>
          <p:cNvSpPr txBox="1"/>
          <p:nvPr/>
        </p:nvSpPr>
        <p:spPr>
          <a:xfrm>
            <a:off x="9092338" y="3724381"/>
            <a:ext cx="85111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1">
                <a:solidFill>
                  <a:schemeClr val="tx2"/>
                </a:solidFill>
                <a:latin typeface="Aptos"/>
                <a:cs typeface="Arial"/>
              </a:rPr>
              <a:t>Predictive </a:t>
            </a:r>
            <a:r>
              <a:rPr lang="en-US" sz="1100" b="1" err="1">
                <a:solidFill>
                  <a:schemeClr val="tx2"/>
                </a:solidFill>
                <a:latin typeface="Aptos"/>
                <a:cs typeface="Arial"/>
              </a:rPr>
              <a:t>Maintence</a:t>
            </a:r>
            <a:endParaRPr lang="en-US" sz="1100" b="1">
              <a:solidFill>
                <a:schemeClr val="tx2"/>
              </a:solidFill>
              <a:latin typeface="Aptos"/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FA9D99-ABCF-D47A-C6C2-5FE95E1CB6B7}"/>
              </a:ext>
            </a:extLst>
          </p:cNvPr>
          <p:cNvSpPr txBox="1"/>
          <p:nvPr/>
        </p:nvSpPr>
        <p:spPr>
          <a:xfrm>
            <a:off x="10249419" y="3724420"/>
            <a:ext cx="1006967" cy="1615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50" b="1" err="1">
                <a:solidFill>
                  <a:schemeClr val="tx2"/>
                </a:solidFill>
                <a:latin typeface="Aptos"/>
                <a:cs typeface="Arial"/>
              </a:rPr>
              <a:t>Sustain+GenAI</a:t>
            </a:r>
            <a:endParaRPr lang="en-US" sz="1050" b="1"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7C697A-74D0-F49A-3D23-DD17F798DA8F}"/>
              </a:ext>
            </a:extLst>
          </p:cNvPr>
          <p:cNvSpPr txBox="1"/>
          <p:nvPr/>
        </p:nvSpPr>
        <p:spPr>
          <a:xfrm>
            <a:off x="6702599" y="3995015"/>
            <a:ext cx="78653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chemeClr val="tx2"/>
                </a:solidFill>
                <a:latin typeface="Aptos"/>
                <a:cs typeface="Arial"/>
              </a:rPr>
              <a:t>Mirror. Sync. Simulate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6D77DF-939C-3CEE-D327-F6E24C858A54}"/>
              </a:ext>
            </a:extLst>
          </p:cNvPr>
          <p:cNvSpPr txBox="1"/>
          <p:nvPr/>
        </p:nvSpPr>
        <p:spPr>
          <a:xfrm>
            <a:off x="7893057" y="3971918"/>
            <a:ext cx="78653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chemeClr val="tx2"/>
                </a:solidFill>
                <a:latin typeface="Aptos"/>
                <a:cs typeface="Arial"/>
              </a:rPr>
              <a:t>See. Detect. </a:t>
            </a:r>
          </a:p>
          <a:p>
            <a:r>
              <a:rPr lang="en-US" sz="1100">
                <a:solidFill>
                  <a:schemeClr val="tx2"/>
                </a:solidFill>
                <a:latin typeface="Aptos"/>
                <a:cs typeface="Arial"/>
              </a:rPr>
              <a:t>Flag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B8445E-A341-EF1E-63E4-97B85CB89F10}"/>
              </a:ext>
            </a:extLst>
          </p:cNvPr>
          <p:cNvSpPr txBox="1"/>
          <p:nvPr/>
        </p:nvSpPr>
        <p:spPr>
          <a:xfrm>
            <a:off x="9092337" y="4120436"/>
            <a:ext cx="85031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chemeClr val="tx2"/>
                </a:solidFill>
                <a:cs typeface="Arial"/>
              </a:rPr>
              <a:t>Predict. Alert.</a:t>
            </a:r>
          </a:p>
          <a:p>
            <a:r>
              <a:rPr lang="en-US" sz="1100">
                <a:solidFill>
                  <a:schemeClr val="tx2"/>
                </a:solidFill>
                <a:cs typeface="Arial"/>
              </a:rPr>
              <a:t>Fix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1366AF-4858-AFB6-0E6D-9A065AD475D8}"/>
              </a:ext>
            </a:extLst>
          </p:cNvPr>
          <p:cNvSpPr txBox="1"/>
          <p:nvPr/>
        </p:nvSpPr>
        <p:spPr>
          <a:xfrm>
            <a:off x="10251364" y="4012754"/>
            <a:ext cx="10069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Track. Advise. Sustain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294520-EE92-19F1-76DA-9AC0114B4B26}"/>
              </a:ext>
            </a:extLst>
          </p:cNvPr>
          <p:cNvSpPr txBox="1"/>
          <p:nvPr/>
        </p:nvSpPr>
        <p:spPr>
          <a:xfrm>
            <a:off x="6793423" y="5408231"/>
            <a:ext cx="4176792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chemeClr val="tx2"/>
                </a:solidFill>
                <a:latin typeface="Aptos"/>
                <a:cs typeface="Arial"/>
              </a:rPr>
              <a:t>Sub 10ms inference . Live factory replica . Defect detection AI . Failure prediction engine . GenAI sustainability advisor</a:t>
            </a:r>
            <a:endParaRPr lang="en-US" sz="1100">
              <a:solidFill>
                <a:srgbClr val="000000"/>
              </a:solidFill>
              <a:latin typeface="Aptos"/>
              <a:cs typeface="Arial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A3739B0-6511-76A6-C953-16903D0B8198}"/>
              </a:ext>
            </a:extLst>
          </p:cNvPr>
          <p:cNvSpPr/>
          <p:nvPr/>
        </p:nvSpPr>
        <p:spPr>
          <a:xfrm>
            <a:off x="2849912" y="2373918"/>
            <a:ext cx="591518" cy="565688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B809BC-6411-E55B-054C-CD853A1B2815}"/>
              </a:ext>
            </a:extLst>
          </p:cNvPr>
          <p:cNvSpPr/>
          <p:nvPr/>
        </p:nvSpPr>
        <p:spPr>
          <a:xfrm>
            <a:off x="3592400" y="2998748"/>
            <a:ext cx="591518" cy="565688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3E092C5F-8450-2F99-7860-554F759A9AC5}"/>
              </a:ext>
            </a:extLst>
          </p:cNvPr>
          <p:cNvSpPr/>
          <p:nvPr/>
        </p:nvSpPr>
        <p:spPr>
          <a:xfrm>
            <a:off x="2091208" y="2998747"/>
            <a:ext cx="591518" cy="565688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3AD1838-AEFA-1E2D-0C1B-F34BADE17B5A}"/>
              </a:ext>
            </a:extLst>
          </p:cNvPr>
          <p:cNvSpPr/>
          <p:nvPr/>
        </p:nvSpPr>
        <p:spPr>
          <a:xfrm>
            <a:off x="1451336" y="3620390"/>
            <a:ext cx="767655" cy="722570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9BFCAB0-1842-DCA7-CDC7-6B538A18D0AC}"/>
              </a:ext>
            </a:extLst>
          </p:cNvPr>
          <p:cNvSpPr/>
          <p:nvPr/>
        </p:nvSpPr>
        <p:spPr>
          <a:xfrm>
            <a:off x="4328706" y="3679681"/>
            <a:ext cx="591518" cy="565688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5CE2AC-BF0A-8F6A-D0A6-9985127DDABD}"/>
              </a:ext>
            </a:extLst>
          </p:cNvPr>
          <p:cNvSpPr txBox="1"/>
          <p:nvPr/>
        </p:nvSpPr>
        <p:spPr>
          <a:xfrm>
            <a:off x="2660757" y="2082954"/>
            <a:ext cx="993183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Financial Drain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950459-08DA-10AC-8716-10460B5CB4F0}"/>
              </a:ext>
            </a:extLst>
          </p:cNvPr>
          <p:cNvSpPr txBox="1"/>
          <p:nvPr/>
        </p:nvSpPr>
        <p:spPr>
          <a:xfrm>
            <a:off x="941682" y="2983103"/>
            <a:ext cx="9931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Blind </a:t>
            </a:r>
          </a:p>
          <a:p>
            <a:pPr algn="r"/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Operations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A5F2A-6C55-5049-53AF-2A03092A82DD}"/>
              </a:ext>
            </a:extLst>
          </p:cNvPr>
          <p:cNvSpPr txBox="1"/>
          <p:nvPr/>
        </p:nvSpPr>
        <p:spPr>
          <a:xfrm>
            <a:off x="4374888" y="3000421"/>
            <a:ext cx="9931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Reactive</a:t>
            </a:r>
          </a:p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Maintenance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C14316-CF4A-A943-8058-37B4C2E66CD5}"/>
              </a:ext>
            </a:extLst>
          </p:cNvPr>
          <p:cNvSpPr txBox="1"/>
          <p:nvPr/>
        </p:nvSpPr>
        <p:spPr>
          <a:xfrm>
            <a:off x="1071609" y="4391596"/>
            <a:ext cx="1630371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Sustainability Blindspot</a:t>
            </a:r>
            <a:endParaRPr lang="en-US">
              <a:latin typeface="Apto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5752DCE-5CDE-9B5B-416E-9039496D0FB4}"/>
              </a:ext>
            </a:extLst>
          </p:cNvPr>
          <p:cNvSpPr txBox="1"/>
          <p:nvPr/>
        </p:nvSpPr>
        <p:spPr>
          <a:xfrm>
            <a:off x="3623983" y="4334665"/>
            <a:ext cx="2031597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Manual Quality Inspection</a:t>
            </a:r>
            <a:endParaRPr lang="en-US"/>
          </a:p>
        </p:txBody>
      </p:sp>
      <p:sp>
        <p:nvSpPr>
          <p:cNvPr id="60" name="Rectangle 4">
            <a:extLst>
              <a:ext uri="{FF2B5EF4-FFF2-40B4-BE49-F238E27FC236}">
                <a16:creationId xmlns:a16="http://schemas.microsoft.com/office/drawing/2014/main" id="{019AC225-FFC1-CC19-4855-C4CD405D3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689" y="5344172"/>
            <a:ext cx="43490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/>
              </a:rPr>
              <a:t>Less downtime Fewer defects. Lower costs. Smarter operations. All in one platform.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C9A86AD-551D-614F-0AA5-33693D4BC806}"/>
              </a:ext>
            </a:extLst>
          </p:cNvPr>
          <p:cNvSpPr/>
          <p:nvPr/>
        </p:nvSpPr>
        <p:spPr>
          <a:xfrm>
            <a:off x="2009863" y="2902396"/>
            <a:ext cx="767655" cy="722570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A7FB02E-4102-E634-3D01-6C49FA3591A3}"/>
              </a:ext>
            </a:extLst>
          </p:cNvPr>
          <p:cNvSpPr/>
          <p:nvPr/>
        </p:nvSpPr>
        <p:spPr>
          <a:xfrm>
            <a:off x="2737298" y="2301967"/>
            <a:ext cx="767655" cy="722570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E4253A2-0A6E-DA34-562E-33B6E23D90F4}"/>
              </a:ext>
            </a:extLst>
          </p:cNvPr>
          <p:cNvSpPr/>
          <p:nvPr/>
        </p:nvSpPr>
        <p:spPr>
          <a:xfrm>
            <a:off x="3523987" y="2920306"/>
            <a:ext cx="767655" cy="722570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A113289-159C-5554-183C-CA50B581CED4}"/>
              </a:ext>
            </a:extLst>
          </p:cNvPr>
          <p:cNvSpPr/>
          <p:nvPr/>
        </p:nvSpPr>
        <p:spPr>
          <a:xfrm>
            <a:off x="4216520" y="3552868"/>
            <a:ext cx="767655" cy="722570"/>
          </a:xfrm>
          <a:prstGeom prst="ellipse">
            <a:avLst/>
          </a:prstGeom>
          <a:solidFill>
            <a:srgbClr val="FFC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  <a:cs typeface="Arial"/>
            </a:endParaRP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1CDC893E-541F-668A-94F6-F07A88586F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196" y="2459624"/>
            <a:ext cx="370857" cy="41068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E9B9A25A-48CC-7E98-32AE-8113ECA7E4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227670" y="3120939"/>
            <a:ext cx="357987" cy="325561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EAFE89D-CB8D-1280-0FB9-C1A264F5F7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902" y="3120939"/>
            <a:ext cx="304802" cy="30480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5F66FDA-F513-D27C-CE65-900434C47F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891" y="3771638"/>
            <a:ext cx="399972" cy="39997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4EE1BCAD-B135-EB95-BED0-3F27C8D5BA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983" y="3739648"/>
            <a:ext cx="351478" cy="351478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77C67D93-43C5-992F-4993-3D12422ADE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911" y="2872430"/>
            <a:ext cx="645852" cy="645852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93F4B95-4AA1-B6BB-6520-637D14F86D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521" y="2929225"/>
            <a:ext cx="507079" cy="507079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3E4C243A-5883-3C05-7267-62DB64F45E4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8573" y="2943004"/>
            <a:ext cx="575279" cy="561598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E0B35FD4-882E-0964-8C34-7EA545F429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969" y="2815718"/>
            <a:ext cx="699958" cy="69995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325408E6-6608-3743-E705-B634CA491FCC}"/>
              </a:ext>
            </a:extLst>
          </p:cNvPr>
          <p:cNvSpPr/>
          <p:nvPr/>
        </p:nvSpPr>
        <p:spPr>
          <a:xfrm>
            <a:off x="354349" y="1107127"/>
            <a:ext cx="914399" cy="91439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pic>
        <p:nvPicPr>
          <p:cNvPr id="11" name="Picture 10" descr="A black and white triangle with a exclamation mark&#10;&#10;AI-generated content may be incorrect.">
            <a:extLst>
              <a:ext uri="{FF2B5EF4-FFF2-40B4-BE49-F238E27FC236}">
                <a16:creationId xmlns:a16="http://schemas.microsoft.com/office/drawing/2014/main" id="{51545262-5454-8CE6-3D16-45BC13BA269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701" y="1374672"/>
            <a:ext cx="337417" cy="295854"/>
          </a:xfrm>
          <a:prstGeom prst="rect">
            <a:avLst/>
          </a:prstGeom>
        </p:spPr>
      </p:pic>
      <p:pic>
        <p:nvPicPr>
          <p:cNvPr id="14" name="Picture 13" descr="A white light bulb on a black background&#10;&#10;AI-generated content may be incorrect.">
            <a:extLst>
              <a:ext uri="{FF2B5EF4-FFF2-40B4-BE49-F238E27FC236}">
                <a16:creationId xmlns:a16="http://schemas.microsoft.com/office/drawing/2014/main" id="{CDA7961F-031D-8271-3589-2475D130A0F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772" y="1349417"/>
            <a:ext cx="456046" cy="46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ue square with a white brain on it&#10;&#10;AI-generated content may be incorrect.">
            <a:extLst>
              <a:ext uri="{FF2B5EF4-FFF2-40B4-BE49-F238E27FC236}">
                <a16:creationId xmlns:a16="http://schemas.microsoft.com/office/drawing/2014/main" id="{3E96EBB2-7D1A-9DB2-4CA4-011E73A8D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203" y="1683591"/>
            <a:ext cx="2219234" cy="2251364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74BA79-A355-FA7E-6784-CA88E1CC1A8F}"/>
              </a:ext>
            </a:extLst>
          </p:cNvPr>
          <p:cNvSpPr/>
          <p:nvPr/>
        </p:nvSpPr>
        <p:spPr>
          <a:xfrm>
            <a:off x="516949" y="1322103"/>
            <a:ext cx="4389581" cy="388191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17DB3-EA65-1A10-EB44-623354548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pto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6F8504-8480-10FB-4507-ACE63C36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pto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1053680" y="1112863"/>
            <a:ext cx="3196935" cy="427298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kern="0">
                <a:solidFill>
                  <a:schemeClr val="bg1"/>
                </a:solidFill>
                <a:latin typeface="Aptos"/>
                <a:ea typeface="Segoe UI" panose="020B0502040204020203" pitchFamily="34" charset="0"/>
                <a:cs typeface="Arial"/>
              </a:rPr>
              <a:t>  </a:t>
            </a:r>
            <a:r>
              <a:rPr kumimoji="0" lang="en-US" sz="160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/>
                <a:ea typeface="Segoe UI" panose="020B0502040204020203" pitchFamily="34" charset="0"/>
                <a:cs typeface="Arial"/>
              </a:rPr>
              <a:t>Uniqueness / </a:t>
            </a:r>
            <a:r>
              <a:rPr lang="en-US" sz="1600" kern="0">
                <a:solidFill>
                  <a:schemeClr val="bg1"/>
                </a:solidFill>
                <a:latin typeface="Aptos"/>
                <a:ea typeface="Segoe UI" panose="020B0502040204020203" pitchFamily="34" charset="0"/>
                <a:cs typeface="Arial"/>
              </a:rPr>
              <a:t>Innovativeness</a:t>
            </a:r>
            <a:endParaRPr lang="en-US" sz="1600" i="0" u="none" strike="noStrike" kern="0" cap="none" spc="0" normalizeH="0" baseline="0" noProof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/>
              <a:ea typeface="Segoe UI" panose="020B0502040204020203" pitchFamily="34" charset="0"/>
              <a:cs typeface="Arial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250E07-67CF-0152-E227-CD4A2D21E4C3}"/>
              </a:ext>
            </a:extLst>
          </p:cNvPr>
          <p:cNvSpPr/>
          <p:nvPr/>
        </p:nvSpPr>
        <p:spPr>
          <a:xfrm>
            <a:off x="512619" y="981541"/>
            <a:ext cx="654628" cy="67771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16D5DE-7D2B-6449-0282-E8428F6C2DFE}"/>
              </a:ext>
            </a:extLst>
          </p:cNvPr>
          <p:cNvSpPr/>
          <p:nvPr/>
        </p:nvSpPr>
        <p:spPr>
          <a:xfrm>
            <a:off x="7294131" y="1274506"/>
            <a:ext cx="4429990" cy="392798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6EDC038F-CA82-55AC-290D-E9464CEB6A5E}"/>
              </a:ext>
            </a:extLst>
          </p:cNvPr>
          <p:cNvSpPr/>
          <p:nvPr/>
        </p:nvSpPr>
        <p:spPr>
          <a:xfrm>
            <a:off x="7830862" y="1072454"/>
            <a:ext cx="3196935" cy="427298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defTabSz="684638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kern="0">
                <a:solidFill>
                  <a:schemeClr val="bg1"/>
                </a:solidFill>
                <a:latin typeface="Aptos"/>
                <a:cs typeface="Arial"/>
              </a:rPr>
              <a:t>  Business Impact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A7D5B84-405E-88FC-D043-4AD2D566FB79}"/>
              </a:ext>
            </a:extLst>
          </p:cNvPr>
          <p:cNvSpPr/>
          <p:nvPr/>
        </p:nvSpPr>
        <p:spPr>
          <a:xfrm>
            <a:off x="7289801" y="941132"/>
            <a:ext cx="654628" cy="677719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14C550-D004-5ADC-3500-632B3C51A679}"/>
              </a:ext>
            </a:extLst>
          </p:cNvPr>
          <p:cNvSpPr txBox="1"/>
          <p:nvPr/>
        </p:nvSpPr>
        <p:spPr>
          <a:xfrm>
            <a:off x="5084542" y="4007634"/>
            <a:ext cx="2027382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tx2"/>
                </a:solidFill>
                <a:latin typeface="Aptos"/>
                <a:cs typeface="Arial"/>
              </a:rPr>
              <a:t>One Intelligent Platform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5B5425-92A6-A51F-9509-2A9D00089143}"/>
              </a:ext>
            </a:extLst>
          </p:cNvPr>
          <p:cNvCxnSpPr/>
          <p:nvPr/>
        </p:nvCxnSpPr>
        <p:spPr>
          <a:xfrm>
            <a:off x="4935971" y="4552925"/>
            <a:ext cx="2351808" cy="5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990C28-C2FC-EF09-56B1-A559365950AB}"/>
              </a:ext>
            </a:extLst>
          </p:cNvPr>
          <p:cNvCxnSpPr>
            <a:cxnSpLocks/>
          </p:cNvCxnSpPr>
          <p:nvPr/>
        </p:nvCxnSpPr>
        <p:spPr>
          <a:xfrm flipH="1" flipV="1">
            <a:off x="4904077" y="1894137"/>
            <a:ext cx="2368867" cy="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2E8460-23B7-E7A0-1D75-9E46B9FD328D}"/>
              </a:ext>
            </a:extLst>
          </p:cNvPr>
          <p:cNvSpPr txBox="1"/>
          <p:nvPr/>
        </p:nvSpPr>
        <p:spPr>
          <a:xfrm>
            <a:off x="5564719" y="4277912"/>
            <a:ext cx="1080655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Complete </a:t>
            </a:r>
            <a:r>
              <a:rPr lang="en-US" sz="1000" err="1">
                <a:solidFill>
                  <a:schemeClr val="tx2"/>
                </a:solidFill>
                <a:latin typeface="Aptos"/>
                <a:cs typeface="Arial"/>
              </a:rPr>
              <a:t>Visiblity</a:t>
            </a:r>
            <a:endParaRPr lang="en-US" sz="1000">
              <a:solidFill>
                <a:schemeClr val="tx2"/>
              </a:solidFill>
              <a:latin typeface="Aptos"/>
              <a:cs typeface="Arial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6AC92B8-9F0F-B978-FB7F-90FF2DD5ECB3}"/>
              </a:ext>
            </a:extLst>
          </p:cNvPr>
          <p:cNvSpPr/>
          <p:nvPr/>
        </p:nvSpPr>
        <p:spPr>
          <a:xfrm>
            <a:off x="707447" y="1859296"/>
            <a:ext cx="914400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A581C6-7830-0CA8-A8B7-7AAF4708D3FD}"/>
              </a:ext>
            </a:extLst>
          </p:cNvPr>
          <p:cNvSpPr/>
          <p:nvPr/>
        </p:nvSpPr>
        <p:spPr>
          <a:xfrm>
            <a:off x="707447" y="2904159"/>
            <a:ext cx="914400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E9585D-9E82-131E-E148-8023BDBCF3C1}"/>
              </a:ext>
            </a:extLst>
          </p:cNvPr>
          <p:cNvSpPr/>
          <p:nvPr/>
        </p:nvSpPr>
        <p:spPr>
          <a:xfrm>
            <a:off x="707447" y="3941725"/>
            <a:ext cx="914400" cy="9144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2474F2C-E553-6505-318D-5BA5A2EAA02C}"/>
              </a:ext>
            </a:extLst>
          </p:cNvPr>
          <p:cNvSpPr/>
          <p:nvPr/>
        </p:nvSpPr>
        <p:spPr>
          <a:xfrm>
            <a:off x="7737975" y="1880860"/>
            <a:ext cx="914400" cy="9144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pto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FF961AF-0945-002E-5A0B-3DDAD2CD5811}"/>
              </a:ext>
            </a:extLst>
          </p:cNvPr>
          <p:cNvSpPr/>
          <p:nvPr/>
        </p:nvSpPr>
        <p:spPr>
          <a:xfrm>
            <a:off x="7737975" y="2925723"/>
            <a:ext cx="914400" cy="9144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4DEB1DE-C392-885E-26F8-B4F0C3E79EB3}"/>
              </a:ext>
            </a:extLst>
          </p:cNvPr>
          <p:cNvSpPr/>
          <p:nvPr/>
        </p:nvSpPr>
        <p:spPr>
          <a:xfrm>
            <a:off x="7737975" y="3941723"/>
            <a:ext cx="914400" cy="9144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9A60D02-CD22-FAD9-B7E8-9ECD2F4184C9}"/>
              </a:ext>
            </a:extLst>
          </p:cNvPr>
          <p:cNvCxnSpPr/>
          <p:nvPr/>
        </p:nvCxnSpPr>
        <p:spPr>
          <a:xfrm>
            <a:off x="7552785" y="1861012"/>
            <a:ext cx="15814" cy="298473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49551C48-B92D-2C8D-31FD-767FF81D012F}"/>
              </a:ext>
            </a:extLst>
          </p:cNvPr>
          <p:cNvSpPr/>
          <p:nvPr/>
        </p:nvSpPr>
        <p:spPr>
          <a:xfrm>
            <a:off x="7511444" y="2215925"/>
            <a:ext cx="100049" cy="100049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04B650-B494-31F9-F893-F1CA5D3EBA37}"/>
              </a:ext>
            </a:extLst>
          </p:cNvPr>
          <p:cNvSpPr/>
          <p:nvPr/>
        </p:nvSpPr>
        <p:spPr>
          <a:xfrm>
            <a:off x="7493993" y="3262947"/>
            <a:ext cx="100049" cy="1000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BF0ACF-EBE4-F5D4-B5DC-7128E67E286F}"/>
              </a:ext>
            </a:extLst>
          </p:cNvPr>
          <p:cNvSpPr/>
          <p:nvPr/>
        </p:nvSpPr>
        <p:spPr>
          <a:xfrm>
            <a:off x="7493992" y="4304152"/>
            <a:ext cx="100049" cy="1000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7B07A5E-22BB-C976-3998-9053FDC28189}"/>
              </a:ext>
            </a:extLst>
          </p:cNvPr>
          <p:cNvCxnSpPr/>
          <p:nvPr/>
        </p:nvCxnSpPr>
        <p:spPr>
          <a:xfrm flipV="1">
            <a:off x="1793523" y="3903566"/>
            <a:ext cx="2967565" cy="282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AB2443C-DBF3-5624-0897-BCD775094337}"/>
              </a:ext>
            </a:extLst>
          </p:cNvPr>
          <p:cNvCxnSpPr>
            <a:cxnSpLocks/>
          </p:cNvCxnSpPr>
          <p:nvPr/>
        </p:nvCxnSpPr>
        <p:spPr>
          <a:xfrm flipV="1">
            <a:off x="1793523" y="2806613"/>
            <a:ext cx="2967565" cy="282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DD7BFA4-9865-F597-40F5-F908EB7709EA}"/>
              </a:ext>
            </a:extLst>
          </p:cNvPr>
          <p:cNvSpPr txBox="1"/>
          <p:nvPr/>
        </p:nvSpPr>
        <p:spPr>
          <a:xfrm>
            <a:off x="1908699" y="1937437"/>
            <a:ext cx="274319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solidFill>
                  <a:schemeClr val="tx2"/>
                </a:solidFill>
                <a:latin typeface="Aptos"/>
                <a:cs typeface="Arial"/>
              </a:rPr>
              <a:t>5-in-1 Manufacturing AI Platform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9826E4-163A-DD33-F1C9-E317E96A21C5}"/>
              </a:ext>
            </a:extLst>
          </p:cNvPr>
          <p:cNvSpPr txBox="1"/>
          <p:nvPr/>
        </p:nvSpPr>
        <p:spPr>
          <a:xfrm>
            <a:off x="1908699" y="2144582"/>
            <a:ext cx="274319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Aptos"/>
                <a:cs typeface="Arial"/>
              </a:rPr>
              <a:t>No competitor unifies edge AI, Vision QC, Digital Twin, Predictive maintenance and GenAI under one roof </a:t>
            </a:r>
            <a:endParaRPr lang="en-US" sz="1100" dirty="0">
              <a:solidFill>
                <a:srgbClr val="000000"/>
              </a:solidFill>
              <a:latin typeface="Aptos"/>
              <a:cs typeface="Arial"/>
            </a:endParaRPr>
          </a:p>
          <a:p>
            <a:endParaRPr lang="en-US" sz="1100" dirty="0">
              <a:solidFill>
                <a:schemeClr val="tx2"/>
              </a:solidFill>
              <a:latin typeface="Aptos"/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13F6E4-50E7-6067-5A5A-262CEDE360E5}"/>
              </a:ext>
            </a:extLst>
          </p:cNvPr>
          <p:cNvSpPr txBox="1"/>
          <p:nvPr/>
        </p:nvSpPr>
        <p:spPr>
          <a:xfrm>
            <a:off x="1871709" y="2906583"/>
            <a:ext cx="274319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solidFill>
                  <a:schemeClr val="tx2"/>
                </a:solidFill>
                <a:latin typeface="Aptos"/>
                <a:cs typeface="Arial"/>
              </a:rPr>
              <a:t>Autonomous Edge-to-Cloud AI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9F51C6-E6DA-E361-0159-47740D731012}"/>
              </a:ext>
            </a:extLst>
          </p:cNvPr>
          <p:cNvSpPr txBox="1"/>
          <p:nvPr/>
        </p:nvSpPr>
        <p:spPr>
          <a:xfrm>
            <a:off x="1871709" y="3113727"/>
            <a:ext cx="274319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Aptos"/>
                <a:cs typeface="Arial"/>
              </a:rPr>
              <a:t>Sub-10ms on device inference meets agentic Bedrock loops – detecting, diagnosing and correcting without human intervention</a:t>
            </a:r>
            <a:endParaRPr lang="en-US" sz="1100" dirty="0">
              <a:solidFill>
                <a:srgbClr val="000000"/>
              </a:solidFill>
              <a:latin typeface="Aptos"/>
              <a:cs typeface="Arial"/>
            </a:endParaRPr>
          </a:p>
          <a:p>
            <a:endParaRPr lang="en-US" sz="1100" dirty="0">
              <a:solidFill>
                <a:schemeClr val="tx2"/>
              </a:solidFill>
              <a:latin typeface="Aptos"/>
              <a:cs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F5728D-928F-3AB2-63C8-69534463B2BE}"/>
              </a:ext>
            </a:extLst>
          </p:cNvPr>
          <p:cNvSpPr txBox="1"/>
          <p:nvPr/>
        </p:nvSpPr>
        <p:spPr>
          <a:xfrm>
            <a:off x="1864311" y="4008894"/>
            <a:ext cx="274319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solidFill>
                  <a:schemeClr val="tx2"/>
                </a:solidFill>
                <a:latin typeface="Aptos"/>
                <a:cs typeface="Arial"/>
              </a:rPr>
              <a:t>GenAI for Every Operator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D074E4-4D32-E621-776E-0FD5B3251D02}"/>
              </a:ext>
            </a:extLst>
          </p:cNvPr>
          <p:cNvSpPr txBox="1"/>
          <p:nvPr/>
        </p:nvSpPr>
        <p:spPr>
          <a:xfrm>
            <a:off x="1864311" y="4216038"/>
            <a:ext cx="274319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Aptos"/>
                <a:cs typeface="Arial"/>
              </a:rPr>
              <a:t>Ask questions in plain language, get reasoned answers. No data science skills needed. Powered by Claude 3 Sonnet</a:t>
            </a:r>
            <a:endParaRPr lang="en-US" sz="1100" dirty="0">
              <a:solidFill>
                <a:srgbClr val="000000"/>
              </a:solidFill>
              <a:latin typeface="Aptos"/>
              <a:cs typeface="Arial"/>
            </a:endParaRPr>
          </a:p>
          <a:p>
            <a:endParaRPr lang="en-US" sz="1100" dirty="0">
              <a:solidFill>
                <a:schemeClr val="tx2"/>
              </a:solidFill>
              <a:latin typeface="Aptos"/>
              <a:cs typeface="Arial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FFE1F45-A66E-BFBE-5989-DD64E4388C55}"/>
              </a:ext>
            </a:extLst>
          </p:cNvPr>
          <p:cNvSpPr/>
          <p:nvPr/>
        </p:nvSpPr>
        <p:spPr>
          <a:xfrm>
            <a:off x="485590" y="5356357"/>
            <a:ext cx="11205097" cy="914399"/>
          </a:xfrm>
          <a:prstGeom prst="flowChartPredefinedProcess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D109BA-7D13-9569-E736-D16D108E85A9}"/>
              </a:ext>
            </a:extLst>
          </p:cNvPr>
          <p:cNvSpPr txBox="1"/>
          <p:nvPr/>
        </p:nvSpPr>
        <p:spPr>
          <a:xfrm>
            <a:off x="1050701" y="5521249"/>
            <a:ext cx="10299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bg1"/>
                </a:solidFill>
                <a:latin typeface="Aptos"/>
                <a:cs typeface="Arial"/>
              </a:rPr>
              <a:t>42%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984B17-977D-9C9A-69EF-5641D5AA5543}"/>
              </a:ext>
            </a:extLst>
          </p:cNvPr>
          <p:cNvSpPr txBox="1"/>
          <p:nvPr/>
        </p:nvSpPr>
        <p:spPr>
          <a:xfrm>
            <a:off x="1042416" y="5905520"/>
            <a:ext cx="2743200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ptos"/>
                <a:cs typeface="Arial"/>
              </a:rPr>
              <a:t>Downtime Reduction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A7FEC27-E14E-9BBF-A4EF-A42F10B98F2D}"/>
              </a:ext>
            </a:extLst>
          </p:cNvPr>
          <p:cNvSpPr txBox="1"/>
          <p:nvPr/>
        </p:nvSpPr>
        <p:spPr>
          <a:xfrm>
            <a:off x="3695920" y="5535316"/>
            <a:ext cx="5681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solidFill>
                  <a:schemeClr val="bg1"/>
                </a:solidFill>
                <a:latin typeface="Aptos"/>
                <a:cs typeface="Arial"/>
              </a:rPr>
              <a:t>96%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3E1F83-7558-72B6-1D45-B970EBDB2D09}"/>
              </a:ext>
            </a:extLst>
          </p:cNvPr>
          <p:cNvSpPr txBox="1"/>
          <p:nvPr/>
        </p:nvSpPr>
        <p:spPr>
          <a:xfrm>
            <a:off x="3694739" y="5844544"/>
            <a:ext cx="2743200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ptos"/>
                <a:cs typeface="Arial"/>
              </a:rPr>
              <a:t>Defect Detection Accuracy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899F6E-3F79-1B3C-2C9A-CACBC5AFE54C}"/>
              </a:ext>
            </a:extLst>
          </p:cNvPr>
          <p:cNvSpPr txBox="1"/>
          <p:nvPr/>
        </p:nvSpPr>
        <p:spPr>
          <a:xfrm>
            <a:off x="6103583" y="5529543"/>
            <a:ext cx="112812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chemeClr val="bg1"/>
                </a:solidFill>
                <a:latin typeface="Aptos"/>
                <a:cs typeface="Arial"/>
              </a:rPr>
              <a:t>18%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A5B9E4-31C4-8E01-9E8D-83107B3CE998}"/>
              </a:ext>
            </a:extLst>
          </p:cNvPr>
          <p:cNvSpPr txBox="1"/>
          <p:nvPr/>
        </p:nvSpPr>
        <p:spPr>
          <a:xfrm>
            <a:off x="6102402" y="5879179"/>
            <a:ext cx="2743200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ptos"/>
                <a:cs typeface="Arial"/>
              </a:rPr>
              <a:t>Energy savings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7DEE4E-7833-C20B-C93D-16198EB3DE5F}"/>
              </a:ext>
            </a:extLst>
          </p:cNvPr>
          <p:cNvSpPr txBox="1"/>
          <p:nvPr/>
        </p:nvSpPr>
        <p:spPr>
          <a:xfrm>
            <a:off x="8498439" y="5509702"/>
            <a:ext cx="5681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solidFill>
                  <a:schemeClr val="bg1"/>
                </a:solidFill>
                <a:latin typeface="Aptos"/>
                <a:cs typeface="Arial"/>
              </a:rPr>
              <a:t>65%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42A45E-CBD8-36CA-62D2-DEDCE45C7C51}"/>
              </a:ext>
            </a:extLst>
          </p:cNvPr>
          <p:cNvSpPr txBox="1"/>
          <p:nvPr/>
        </p:nvSpPr>
        <p:spPr>
          <a:xfrm>
            <a:off x="8497258" y="5870885"/>
            <a:ext cx="2743200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ptos"/>
                <a:cs typeface="Arial"/>
              </a:rPr>
              <a:t>Annual Cost Savings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52D68F-E91B-354C-98FB-296761571346}"/>
              </a:ext>
            </a:extLst>
          </p:cNvPr>
          <p:cNvSpPr txBox="1"/>
          <p:nvPr/>
        </p:nvSpPr>
        <p:spPr>
          <a:xfrm>
            <a:off x="8773212" y="1963488"/>
            <a:ext cx="274319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solidFill>
                  <a:schemeClr val="tx2"/>
                </a:solidFill>
                <a:latin typeface="Aptos"/>
                <a:cs typeface="Arial"/>
              </a:rPr>
              <a:t>Cost 50-80L Saved per plant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A56BF7-C6FD-969A-40AD-FD9FBC73F80B}"/>
              </a:ext>
            </a:extLst>
          </p:cNvPr>
          <p:cNvSpPr txBox="1"/>
          <p:nvPr/>
        </p:nvSpPr>
        <p:spPr>
          <a:xfrm>
            <a:off x="8773212" y="2170633"/>
            <a:ext cx="274319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Aptos"/>
                <a:cs typeface="Arial"/>
              </a:rPr>
              <a:t>Downtime reduction, defect elimination and energy savings combined – every year, per facility</a:t>
            </a:r>
            <a:endParaRPr lang="en-US" sz="1100" dirty="0">
              <a:solidFill>
                <a:srgbClr val="000000"/>
              </a:solidFill>
              <a:latin typeface="Aptos"/>
              <a:cs typeface="Arial"/>
            </a:endParaRPr>
          </a:p>
          <a:p>
            <a:endParaRPr lang="en-US" sz="1100" dirty="0">
              <a:solidFill>
                <a:schemeClr val="tx2"/>
              </a:solidFill>
              <a:latin typeface="Aptos"/>
              <a:cs typeface="Arial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24BBA4-6A74-9721-DA27-368797CBEB62}"/>
              </a:ext>
            </a:extLst>
          </p:cNvPr>
          <p:cNvSpPr txBox="1"/>
          <p:nvPr/>
        </p:nvSpPr>
        <p:spPr>
          <a:xfrm>
            <a:off x="8786237" y="2914360"/>
            <a:ext cx="274319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solidFill>
                  <a:schemeClr val="tx2"/>
                </a:solidFill>
                <a:latin typeface="Aptos"/>
                <a:cs typeface="Arial"/>
              </a:rPr>
              <a:t>95% detect accuracy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13B2F7-DF50-25C1-67E0-C02C40B81E74}"/>
              </a:ext>
            </a:extLst>
          </p:cNvPr>
          <p:cNvSpPr txBox="1"/>
          <p:nvPr/>
        </p:nvSpPr>
        <p:spPr>
          <a:xfrm>
            <a:off x="8786237" y="3121505"/>
            <a:ext cx="274319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Aptos"/>
                <a:cs typeface="Arial"/>
              </a:rPr>
              <a:t>24x7 </a:t>
            </a:r>
            <a:r>
              <a:rPr lang="en-US" sz="1100" dirty="0" err="1">
                <a:solidFill>
                  <a:schemeClr val="tx2"/>
                </a:solidFill>
                <a:latin typeface="Aptos"/>
                <a:cs typeface="Arial"/>
              </a:rPr>
              <a:t>rekcognition</a:t>
            </a:r>
            <a:r>
              <a:rPr lang="en-US" sz="1100" dirty="0">
                <a:solidFill>
                  <a:schemeClr val="tx2"/>
                </a:solidFill>
                <a:latin typeface="Aptos"/>
                <a:cs typeface="Arial"/>
              </a:rPr>
              <a:t> vision AI outperforms human inspectors at 80-85% with zero fatigue and round-the-clock coverage </a:t>
            </a:r>
            <a:endParaRPr lang="en-US" sz="1100" dirty="0">
              <a:solidFill>
                <a:srgbClr val="000000"/>
              </a:solidFill>
              <a:latin typeface="Aptos"/>
              <a:cs typeface="Arial"/>
            </a:endParaRPr>
          </a:p>
          <a:p>
            <a:endParaRPr lang="en-US" sz="1100" dirty="0">
              <a:solidFill>
                <a:schemeClr val="tx2"/>
              </a:solidFill>
              <a:latin typeface="Aptos"/>
              <a:cs typeface="Arial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07AD6B-F3F9-78BB-6ADD-9D3343FE463C}"/>
              </a:ext>
            </a:extLst>
          </p:cNvPr>
          <p:cNvSpPr txBox="1"/>
          <p:nvPr/>
        </p:nvSpPr>
        <p:spPr>
          <a:xfrm>
            <a:off x="8799262" y="3930359"/>
            <a:ext cx="2743199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solidFill>
                  <a:schemeClr val="tx2"/>
                </a:solidFill>
                <a:latin typeface="Aptos"/>
                <a:cs typeface="Arial"/>
              </a:rPr>
              <a:t>30-50% Less Downtime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3CE262-347E-D1FA-F5D5-1626E7046FCB}"/>
              </a:ext>
            </a:extLst>
          </p:cNvPr>
          <p:cNvSpPr txBox="1"/>
          <p:nvPr/>
        </p:nvSpPr>
        <p:spPr>
          <a:xfrm>
            <a:off x="8799262" y="4137504"/>
            <a:ext cx="2743199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Aptos"/>
                <a:cs typeface="Arial"/>
              </a:rPr>
              <a:t>LSTM predictive models catch failures 24-72 hours early. Each avoided event saves Rs.10-15 Lakhs</a:t>
            </a:r>
            <a:endParaRPr lang="en-US" sz="1100" dirty="0">
              <a:solidFill>
                <a:srgbClr val="000000"/>
              </a:solidFill>
              <a:latin typeface="Aptos"/>
              <a:cs typeface="Arial"/>
            </a:endParaRPr>
          </a:p>
          <a:p>
            <a:endParaRPr lang="en-US" sz="1100" dirty="0">
              <a:solidFill>
                <a:schemeClr val="tx2"/>
              </a:solidFill>
              <a:latin typeface="Aptos"/>
              <a:cs typeface="Arial"/>
            </a:endParaRPr>
          </a:p>
        </p:txBody>
      </p:sp>
      <p:pic>
        <p:nvPicPr>
          <p:cNvPr id="11" name="Content Placeholder 2" descr="A blue and purple cubes&#10;&#10;AI-generated content may be incorrect.">
            <a:extLst>
              <a:ext uri="{FF2B5EF4-FFF2-40B4-BE49-F238E27FC236}">
                <a16:creationId xmlns:a16="http://schemas.microsoft.com/office/drawing/2014/main" id="{713E95DB-55CE-A032-EC8B-222358A7F3EE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4"/>
          <a:srcRect l="-211" t="64700" r="235" b="12616"/>
          <a:stretch>
            <a:fillRect/>
          </a:stretch>
        </p:blipFill>
        <p:spPr>
          <a:xfrm>
            <a:off x="-8429" y="-5207"/>
            <a:ext cx="12306697" cy="8105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76E3D6-F03E-04FA-77D6-C306CD8E3E5F}"/>
              </a:ext>
            </a:extLst>
          </p:cNvPr>
          <p:cNvSpPr txBox="1"/>
          <p:nvPr/>
        </p:nvSpPr>
        <p:spPr>
          <a:xfrm>
            <a:off x="455506" y="207817"/>
            <a:ext cx="560337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Aptos"/>
                <a:cs typeface="Arial"/>
              </a:rPr>
              <a:t>FactoryMind</a:t>
            </a:r>
            <a:r>
              <a:rPr lang="en-US" sz="2400" dirty="0">
                <a:solidFill>
                  <a:schemeClr val="bg1"/>
                </a:solidFill>
                <a:latin typeface="Aptos"/>
                <a:cs typeface="Arial"/>
              </a:rPr>
              <a:t> : Unified Agentic AI Platform</a:t>
            </a:r>
          </a:p>
          <a:p>
            <a:endParaRPr lang="en-US" sz="1600" dirty="0">
              <a:solidFill>
                <a:srgbClr val="000048"/>
              </a:solidFill>
              <a:latin typeface="Aptos"/>
              <a:cs typeface="Arial"/>
            </a:endParaRPr>
          </a:p>
          <a:p>
            <a:pPr algn="l"/>
            <a:endParaRPr lang="en-IN" sz="2400" dirty="0">
              <a:solidFill>
                <a:schemeClr val="bg1"/>
              </a:solidFill>
              <a:latin typeface="Aptos"/>
              <a:cs typeface="Arial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9574597E-3452-26EC-4964-85A128558E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37" y="1921654"/>
            <a:ext cx="758877" cy="75887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5256CF9-40F2-2C0C-1BA9-8A0BB1A0C2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05" y="3037277"/>
            <a:ext cx="610302" cy="61030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6836A77-2D46-8142-9E27-9B22D7D020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20" y="4031110"/>
            <a:ext cx="735625" cy="735625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E0900A31-15D0-C7BF-B5B7-89C710F0016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56" y="1977619"/>
            <a:ext cx="617496" cy="617496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6A78CFD7-383B-EE2A-70CE-03CAEA4952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726" y="3099026"/>
            <a:ext cx="477384" cy="477384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B9A65C7-37BD-846A-A0B8-4B43FA834C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419" y="4140357"/>
            <a:ext cx="480881" cy="48088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DBF88C8C-CAE5-1B71-37DE-0CB50C144D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27" y="1028127"/>
            <a:ext cx="461811" cy="461811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E4636B82-F393-4F96-6997-78E53D738C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328" y="1062470"/>
            <a:ext cx="371304" cy="39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hite Background Dots Images – Browse 3,319,536 Stock Photos, Vectors, and  Video | Adobe Stock">
            <a:extLst>
              <a:ext uri="{FF2B5EF4-FFF2-40B4-BE49-F238E27FC236}">
                <a16:creationId xmlns:a16="http://schemas.microsoft.com/office/drawing/2014/main" id="{DDD0313F-3726-0597-5313-D9439F108F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" t="132" r="-207" b="10266"/>
          <a:stretch>
            <a:fillRect/>
          </a:stretch>
        </p:blipFill>
        <p:spPr>
          <a:xfrm>
            <a:off x="-26501" y="799624"/>
            <a:ext cx="12295955" cy="606034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5D635-C241-439F-EEBB-4A22AD40DB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ptos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A3B8E-042C-A09E-7539-8ACE13E39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pto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5550A3-2C97-A49D-FB83-6C56EF40E225}"/>
              </a:ext>
            </a:extLst>
          </p:cNvPr>
          <p:cNvSpPr/>
          <p:nvPr/>
        </p:nvSpPr>
        <p:spPr>
          <a:xfrm>
            <a:off x="439481" y="1254739"/>
            <a:ext cx="2594075" cy="47653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385C2-9812-3667-B2CD-59EFE3E9C87F}"/>
              </a:ext>
            </a:extLst>
          </p:cNvPr>
          <p:cNvSpPr/>
          <p:nvPr/>
        </p:nvSpPr>
        <p:spPr>
          <a:xfrm>
            <a:off x="3387224" y="2328094"/>
            <a:ext cx="1658355" cy="25595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047189-7E7C-6F60-13D5-10F89B57409C}"/>
              </a:ext>
            </a:extLst>
          </p:cNvPr>
          <p:cNvSpPr/>
          <p:nvPr/>
        </p:nvSpPr>
        <p:spPr>
          <a:xfrm>
            <a:off x="9234340" y="1263648"/>
            <a:ext cx="2594075" cy="476536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8A4746-2EB5-191B-0F8D-5955407162E9}"/>
              </a:ext>
            </a:extLst>
          </p:cNvPr>
          <p:cNvSpPr/>
          <p:nvPr/>
        </p:nvSpPr>
        <p:spPr>
          <a:xfrm>
            <a:off x="5140504" y="2328094"/>
            <a:ext cx="1697103" cy="256602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5F47DA-FCA0-986A-99CD-E1DFE48BFFBE}"/>
              </a:ext>
            </a:extLst>
          </p:cNvPr>
          <p:cNvSpPr/>
          <p:nvPr/>
        </p:nvSpPr>
        <p:spPr>
          <a:xfrm>
            <a:off x="6934752" y="2344481"/>
            <a:ext cx="1961865" cy="25595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pto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1ED88B-28F7-B656-9A2D-074E0A006480}"/>
              </a:ext>
            </a:extLst>
          </p:cNvPr>
          <p:cNvSpPr/>
          <p:nvPr/>
        </p:nvSpPr>
        <p:spPr>
          <a:xfrm>
            <a:off x="430624" y="1256375"/>
            <a:ext cx="2617141" cy="43462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latin typeface="Aptos"/>
                <a:cs typeface="Arial"/>
              </a:rPr>
              <a:t>Technologies Leveraged</a:t>
            </a:r>
            <a:endParaRPr lang="en-US" sz="1400">
              <a:latin typeface="Aptos"/>
            </a:endParaRPr>
          </a:p>
        </p:txBody>
      </p:sp>
      <p:sp>
        <p:nvSpPr>
          <p:cNvPr id="29" name="Arrow: Chevron 28">
            <a:extLst>
              <a:ext uri="{FF2B5EF4-FFF2-40B4-BE49-F238E27FC236}">
                <a16:creationId xmlns:a16="http://schemas.microsoft.com/office/drawing/2014/main" id="{DA77674E-6579-17A4-3ADB-E60DFD0F8CCB}"/>
              </a:ext>
            </a:extLst>
          </p:cNvPr>
          <p:cNvSpPr/>
          <p:nvPr/>
        </p:nvSpPr>
        <p:spPr>
          <a:xfrm>
            <a:off x="4899139" y="1711323"/>
            <a:ext cx="2067109" cy="371141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ptos"/>
                <a:cs typeface="Arial"/>
              </a:rPr>
              <a:t>Ingest &amp; Process</a:t>
            </a:r>
          </a:p>
        </p:txBody>
      </p:sp>
      <p:sp>
        <p:nvSpPr>
          <p:cNvPr id="30" name="Arrow: Chevron 29">
            <a:extLst>
              <a:ext uri="{FF2B5EF4-FFF2-40B4-BE49-F238E27FC236}">
                <a16:creationId xmlns:a16="http://schemas.microsoft.com/office/drawing/2014/main" id="{F31AD89E-56DB-1422-A9D6-A5F9AD06BBD4}"/>
              </a:ext>
            </a:extLst>
          </p:cNvPr>
          <p:cNvSpPr/>
          <p:nvPr/>
        </p:nvSpPr>
        <p:spPr>
          <a:xfrm>
            <a:off x="6812243" y="1711321"/>
            <a:ext cx="2245449" cy="363035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ptos"/>
                <a:cs typeface="Arial"/>
              </a:rPr>
              <a:t>Application Layer</a:t>
            </a:r>
            <a:endParaRPr lang="en-US">
              <a:latin typeface="Apto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625A696-7E7E-2C3E-DC24-7DA3E9C107FA}"/>
              </a:ext>
            </a:extLst>
          </p:cNvPr>
          <p:cNvSpPr/>
          <p:nvPr/>
        </p:nvSpPr>
        <p:spPr>
          <a:xfrm>
            <a:off x="9228356" y="1260602"/>
            <a:ext cx="2617141" cy="43462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>
                <a:latin typeface="Aptos"/>
                <a:cs typeface="Arial"/>
              </a:rPr>
              <a:t>AI / GEN AI </a:t>
            </a:r>
            <a:r>
              <a:rPr lang="en-US" sz="1200" err="1">
                <a:latin typeface="Aptos"/>
                <a:cs typeface="Arial"/>
              </a:rPr>
              <a:t>Capablities</a:t>
            </a:r>
          </a:p>
        </p:txBody>
      </p:sp>
      <p:pic>
        <p:nvPicPr>
          <p:cNvPr id="33" name="Picture 32" descr="AWS Icon SVG Vector &amp; PNG Free Download | UXWing">
            <a:extLst>
              <a:ext uri="{FF2B5EF4-FFF2-40B4-BE49-F238E27FC236}">
                <a16:creationId xmlns:a16="http://schemas.microsoft.com/office/drawing/2014/main" id="{3AB32B93-2EBE-CD05-B6CB-A9A7E8E03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72" y="2055613"/>
            <a:ext cx="428355" cy="273406"/>
          </a:xfrm>
          <a:prstGeom prst="rect">
            <a:avLst/>
          </a:prstGeom>
        </p:spPr>
      </p:pic>
      <p:pic>
        <p:nvPicPr>
          <p:cNvPr id="34" name="Picture 33" descr="Cloud Icons | Amazon Kinesis">
            <a:extLst>
              <a:ext uri="{FF2B5EF4-FFF2-40B4-BE49-F238E27FC236}">
                <a16:creationId xmlns:a16="http://schemas.microsoft.com/office/drawing/2014/main" id="{2868AF5B-75CA-A3B3-FD78-186F2DE2B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673" y="2734888"/>
            <a:ext cx="408710" cy="394855"/>
          </a:xfrm>
          <a:prstGeom prst="rect">
            <a:avLst/>
          </a:prstGeom>
        </p:spPr>
      </p:pic>
      <p:pic>
        <p:nvPicPr>
          <p:cNvPr id="35" name="Picture 34" descr="Aws S3 icon - Free Download PNG &amp; SVG | Streamline">
            <a:extLst>
              <a:ext uri="{FF2B5EF4-FFF2-40B4-BE49-F238E27FC236}">
                <a16:creationId xmlns:a16="http://schemas.microsoft.com/office/drawing/2014/main" id="{114E82E3-7845-7166-D08A-9AAA5D363A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14" y="3550056"/>
            <a:ext cx="406979" cy="445076"/>
          </a:xfrm>
          <a:prstGeom prst="rect">
            <a:avLst/>
          </a:prstGeom>
        </p:spPr>
      </p:pic>
      <p:pic>
        <p:nvPicPr>
          <p:cNvPr id="36" name="Picture 35" descr="AWS Lambda - Wikipedia">
            <a:extLst>
              <a:ext uri="{FF2B5EF4-FFF2-40B4-BE49-F238E27FC236}">
                <a16:creationId xmlns:a16="http://schemas.microsoft.com/office/drawing/2014/main" id="{7ECF6728-558B-A373-12FE-528C576FF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15" y="4428541"/>
            <a:ext cx="402637" cy="391392"/>
          </a:xfrm>
          <a:prstGeom prst="rect">
            <a:avLst/>
          </a:prstGeom>
        </p:spPr>
      </p:pic>
      <p:pic>
        <p:nvPicPr>
          <p:cNvPr id="37" name="Picture 36" descr="Amazon DynamoDB - Wikipedia">
            <a:extLst>
              <a:ext uri="{FF2B5EF4-FFF2-40B4-BE49-F238E27FC236}">
                <a16:creationId xmlns:a16="http://schemas.microsoft.com/office/drawing/2014/main" id="{CD5B9D73-9988-B4BD-8E3E-A52ECF805F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776" y="5211554"/>
            <a:ext cx="400707" cy="42041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3CAC96C-A237-8DEB-DA5B-CEE97538F510}"/>
              </a:ext>
            </a:extLst>
          </p:cNvPr>
          <p:cNvSpPr txBox="1"/>
          <p:nvPr/>
        </p:nvSpPr>
        <p:spPr>
          <a:xfrm>
            <a:off x="1356360" y="2026920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AWS IoT Core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C6CCE6-EF18-48A5-5A80-18E1C8AAD05F}"/>
              </a:ext>
            </a:extLst>
          </p:cNvPr>
          <p:cNvSpPr txBox="1"/>
          <p:nvPr/>
        </p:nvSpPr>
        <p:spPr>
          <a:xfrm>
            <a:off x="1356360" y="2735579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AWS Kinesis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D440BD-CEB5-C893-A843-334D42DD1830}"/>
              </a:ext>
            </a:extLst>
          </p:cNvPr>
          <p:cNvSpPr txBox="1"/>
          <p:nvPr/>
        </p:nvSpPr>
        <p:spPr>
          <a:xfrm>
            <a:off x="1356360" y="3543299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AWS S3 Bucket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A18DEB-6179-3697-C337-49CA3B13A9F7}"/>
              </a:ext>
            </a:extLst>
          </p:cNvPr>
          <p:cNvSpPr txBox="1"/>
          <p:nvPr/>
        </p:nvSpPr>
        <p:spPr>
          <a:xfrm>
            <a:off x="1356360" y="4427219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AWS Lambda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5303ED-A1CF-C1D6-96AE-77238719C6FC}"/>
              </a:ext>
            </a:extLst>
          </p:cNvPr>
          <p:cNvSpPr txBox="1"/>
          <p:nvPr/>
        </p:nvSpPr>
        <p:spPr>
          <a:xfrm>
            <a:off x="1356360" y="5265419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AWS Dynamo DB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5EC2BD-4A74-A790-C908-65A915B70DD3}"/>
              </a:ext>
            </a:extLst>
          </p:cNvPr>
          <p:cNvSpPr txBox="1"/>
          <p:nvPr/>
        </p:nvSpPr>
        <p:spPr>
          <a:xfrm>
            <a:off x="1356360" y="2194560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Secure Device connectivity and ingestion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2596FD-EF58-64AD-57B0-46C7319AC420}"/>
              </a:ext>
            </a:extLst>
          </p:cNvPr>
          <p:cNvSpPr txBox="1"/>
          <p:nvPr/>
        </p:nvSpPr>
        <p:spPr>
          <a:xfrm>
            <a:off x="1356360" y="2918460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Real Time Data Streaming Provider</a:t>
            </a:r>
            <a:endParaRPr lang="en-US">
              <a:solidFill>
                <a:schemeClr val="tx2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BC6487-5464-4287-64C4-BD41CEBFFE9E}"/>
              </a:ext>
            </a:extLst>
          </p:cNvPr>
          <p:cNvSpPr txBox="1"/>
          <p:nvPr/>
        </p:nvSpPr>
        <p:spPr>
          <a:xfrm>
            <a:off x="1356360" y="3726179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Scalable Storage providing medium</a:t>
            </a:r>
            <a:endParaRPr lang="en-US">
              <a:solidFill>
                <a:schemeClr val="tx2"/>
              </a:solidFill>
              <a:latin typeface="Apto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B40C8AB-4971-EFF2-7726-DD064934CE5F}"/>
              </a:ext>
            </a:extLst>
          </p:cNvPr>
          <p:cNvSpPr txBox="1"/>
          <p:nvPr/>
        </p:nvSpPr>
        <p:spPr>
          <a:xfrm>
            <a:off x="1356360" y="4625339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Event- Driven Serverless computation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195D247-6D59-6491-91C5-FDEDCF209AED}"/>
              </a:ext>
            </a:extLst>
          </p:cNvPr>
          <p:cNvSpPr txBox="1"/>
          <p:nvPr/>
        </p:nvSpPr>
        <p:spPr>
          <a:xfrm>
            <a:off x="1356360" y="5455919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High performance No-SQL data store</a:t>
            </a:r>
            <a:endParaRPr lang="en-US">
              <a:latin typeface="Apto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B6C4C7-F51B-4258-72C0-4BBD8B759314}"/>
              </a:ext>
            </a:extLst>
          </p:cNvPr>
          <p:cNvSpPr txBox="1"/>
          <p:nvPr/>
        </p:nvSpPr>
        <p:spPr>
          <a:xfrm>
            <a:off x="9829832" y="2063702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PREDICTIVE MAINTENANCE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040249-CB40-064F-4F1A-28C0C29B97E7}"/>
              </a:ext>
            </a:extLst>
          </p:cNvPr>
          <p:cNvSpPr txBox="1"/>
          <p:nvPr/>
        </p:nvSpPr>
        <p:spPr>
          <a:xfrm>
            <a:off x="9829832" y="2231342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Secure Device connectivity and ingestion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7FCE0F-ACCB-0C78-A6F9-C5AFF63BC01E}"/>
              </a:ext>
            </a:extLst>
          </p:cNvPr>
          <p:cNvSpPr txBox="1"/>
          <p:nvPr/>
        </p:nvSpPr>
        <p:spPr>
          <a:xfrm>
            <a:off x="9858317" y="2790094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ANOMOLY DETECTION</a:t>
            </a:r>
            <a:endParaRPr lang="en-US">
              <a:solidFill>
                <a:schemeClr val="tx2"/>
              </a:solidFill>
              <a:latin typeface="Apto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6649DA-6FEA-113B-7AF9-D3688E6E1B47}"/>
              </a:ext>
            </a:extLst>
          </p:cNvPr>
          <p:cNvSpPr txBox="1"/>
          <p:nvPr/>
        </p:nvSpPr>
        <p:spPr>
          <a:xfrm>
            <a:off x="9858317" y="2957734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Secure Device connectivity and ingestion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DE1C36-5F63-E039-D07D-EA20890B7EBB}"/>
              </a:ext>
            </a:extLst>
          </p:cNvPr>
          <p:cNvSpPr txBox="1"/>
          <p:nvPr/>
        </p:nvSpPr>
        <p:spPr>
          <a:xfrm>
            <a:off x="9858316" y="3573458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GENAI ASSISTANCE</a:t>
            </a:r>
            <a:endParaRPr lang="en-US">
              <a:solidFill>
                <a:schemeClr val="tx2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1740B6-CA44-B591-0B22-B9C5D912A552}"/>
              </a:ext>
            </a:extLst>
          </p:cNvPr>
          <p:cNvSpPr txBox="1"/>
          <p:nvPr/>
        </p:nvSpPr>
        <p:spPr>
          <a:xfrm>
            <a:off x="9858316" y="3741098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Secure Device connectivity and ingestion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2510A7C-4A79-5B51-C6A1-634FA5F03B2C}"/>
              </a:ext>
            </a:extLst>
          </p:cNvPr>
          <p:cNvSpPr txBox="1"/>
          <p:nvPr/>
        </p:nvSpPr>
        <p:spPr>
          <a:xfrm>
            <a:off x="9858315" y="4328336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INTELLIGENT REPORTING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B90028A-2C46-0ABB-51AC-F0A84F9AC8DE}"/>
              </a:ext>
            </a:extLst>
          </p:cNvPr>
          <p:cNvSpPr txBox="1"/>
          <p:nvPr/>
        </p:nvSpPr>
        <p:spPr>
          <a:xfrm>
            <a:off x="9858315" y="4495976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Secure Device connectivity and ingestion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0C4AD1-FBCF-731E-DFBC-F87218031783}"/>
              </a:ext>
            </a:extLst>
          </p:cNvPr>
          <p:cNvSpPr txBox="1"/>
          <p:nvPr/>
        </p:nvSpPr>
        <p:spPr>
          <a:xfrm>
            <a:off x="9858314" y="5047606"/>
            <a:ext cx="2743200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>
                <a:solidFill>
                  <a:schemeClr val="tx2"/>
                </a:solidFill>
                <a:latin typeface="Aptos"/>
                <a:cs typeface="Arial"/>
              </a:rPr>
              <a:t>ENERGY OPTIMIZATION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2A0AB3-FDDD-8880-47E6-5D4345CE2713}"/>
              </a:ext>
            </a:extLst>
          </p:cNvPr>
          <p:cNvSpPr txBox="1"/>
          <p:nvPr/>
        </p:nvSpPr>
        <p:spPr>
          <a:xfrm>
            <a:off x="9872557" y="5250853"/>
            <a:ext cx="14478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Aptos"/>
                <a:cs typeface="Arial"/>
              </a:rPr>
              <a:t>Secure Device connectivity and ingestion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9F16DE-1B84-18AB-1441-3EC996C9F9B3}"/>
              </a:ext>
            </a:extLst>
          </p:cNvPr>
          <p:cNvSpPr txBox="1"/>
          <p:nvPr/>
        </p:nvSpPr>
        <p:spPr>
          <a:xfrm>
            <a:off x="3517780" y="2646335"/>
            <a:ext cx="11968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Machine &amp; Sensors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E51C36D-7176-15B5-FC8F-6A870B41AE9B}"/>
              </a:ext>
            </a:extLst>
          </p:cNvPr>
          <p:cNvSpPr txBox="1"/>
          <p:nvPr/>
        </p:nvSpPr>
        <p:spPr>
          <a:xfrm>
            <a:off x="3519163" y="3227336"/>
            <a:ext cx="1387318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Energy Meters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580D866-D471-E9C1-8B1C-C84CA2731A0C}"/>
              </a:ext>
            </a:extLst>
          </p:cNvPr>
          <p:cNvSpPr txBox="1"/>
          <p:nvPr/>
        </p:nvSpPr>
        <p:spPr>
          <a:xfrm>
            <a:off x="3513720" y="3726049"/>
            <a:ext cx="1387318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err="1">
                <a:solidFill>
                  <a:schemeClr val="tx2"/>
                </a:solidFill>
                <a:latin typeface="Aptos"/>
                <a:cs typeface="Arial"/>
              </a:rPr>
              <a:t>Mainenance</a:t>
            </a:r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 Logs</a:t>
            </a:r>
            <a:endParaRPr lang="en-US">
              <a:latin typeface="Aptos"/>
            </a:endParaRPr>
          </a:p>
        </p:txBody>
      </p:sp>
      <p:sp>
        <p:nvSpPr>
          <p:cNvPr id="61" name="TextBox 58">
            <a:extLst>
              <a:ext uri="{FF2B5EF4-FFF2-40B4-BE49-F238E27FC236}">
                <a16:creationId xmlns:a16="http://schemas.microsoft.com/office/drawing/2014/main" id="{CE51C36D-7176-15B5-FC8F-6A870B41AE9B}"/>
              </a:ext>
            </a:extLst>
          </p:cNvPr>
          <p:cNvSpPr txBox="1"/>
          <p:nvPr/>
        </p:nvSpPr>
        <p:spPr>
          <a:xfrm>
            <a:off x="3513720" y="4165168"/>
            <a:ext cx="1387318" cy="369332"/>
          </a:xfrm>
          <a:prstGeom prst="rect">
            <a:avLst/>
          </a:prstGeom>
          <a:noFill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External </a:t>
            </a:r>
            <a:r>
              <a:rPr lang="en-US" sz="1200" err="1">
                <a:solidFill>
                  <a:schemeClr val="tx2"/>
                </a:solidFill>
                <a:latin typeface="Aptos"/>
                <a:cs typeface="Arial"/>
              </a:rPr>
              <a:t>datas</a:t>
            </a:r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 (Weather..., etc..)</a:t>
            </a:r>
            <a:endParaRPr lang="en-US">
              <a:solidFill>
                <a:schemeClr val="tx2"/>
              </a:solidFill>
              <a:latin typeface="Aptos"/>
              <a:cs typeface="Arial"/>
            </a:endParaRPr>
          </a:p>
        </p:txBody>
      </p:sp>
      <p:pic>
        <p:nvPicPr>
          <p:cNvPr id="62" name="Picture 61" descr="Cloud Icons | AWS IoT Core">
            <a:extLst>
              <a:ext uri="{FF2B5EF4-FFF2-40B4-BE49-F238E27FC236}">
                <a16:creationId xmlns:a16="http://schemas.microsoft.com/office/drawing/2014/main" id="{25B6EAE4-529F-A007-2428-73E0F956DC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7309" y="2565400"/>
            <a:ext cx="359684" cy="43395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B06AD8A8-A817-3DB3-F251-A7F19E43AE63}"/>
              </a:ext>
            </a:extLst>
          </p:cNvPr>
          <p:cNvSpPr txBox="1"/>
          <p:nvPr/>
        </p:nvSpPr>
        <p:spPr>
          <a:xfrm>
            <a:off x="5714953" y="2640168"/>
            <a:ext cx="976941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cs typeface="Arial"/>
              </a:rPr>
              <a:t>AWS IOT CORE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7622DBC-4814-2FA5-D154-84DF47CAD859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5517151" y="2999352"/>
            <a:ext cx="0" cy="312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Cloud Icons | Amazon Kinesis">
            <a:extLst>
              <a:ext uri="{FF2B5EF4-FFF2-40B4-BE49-F238E27FC236}">
                <a16:creationId xmlns:a16="http://schemas.microsoft.com/office/drawing/2014/main" id="{5EBDDBA2-0CA2-3F2D-BD0B-9E368B092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4788" y="3376318"/>
            <a:ext cx="434761" cy="42007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1EE6E473-9E32-48F8-E24E-AA013832117D}"/>
              </a:ext>
            </a:extLst>
          </p:cNvPr>
          <p:cNvSpPr txBox="1"/>
          <p:nvPr/>
        </p:nvSpPr>
        <p:spPr>
          <a:xfrm>
            <a:off x="5782472" y="3411813"/>
            <a:ext cx="976941" cy="153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cs typeface="Arial"/>
              </a:rPr>
              <a:t>AWS KENSIS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B2DB12F-6C02-32C8-479A-61921D9143DD}"/>
              </a:ext>
            </a:extLst>
          </p:cNvPr>
          <p:cNvCxnSpPr>
            <a:cxnSpLocks/>
            <a:stCxn id="65" idx="2"/>
            <a:endCxn id="72" idx="0"/>
          </p:cNvCxnSpPr>
          <p:nvPr/>
        </p:nvCxnSpPr>
        <p:spPr>
          <a:xfrm flipH="1">
            <a:off x="5512168" y="3796397"/>
            <a:ext cx="1" cy="33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Data filter - Free computer icons">
            <a:extLst>
              <a:ext uri="{FF2B5EF4-FFF2-40B4-BE49-F238E27FC236}">
                <a16:creationId xmlns:a16="http://schemas.microsoft.com/office/drawing/2014/main" id="{DDCD59EB-F249-145B-C085-094E7AF43B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53481" y="4131257"/>
            <a:ext cx="517373" cy="475002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F63A9165-E9AB-A667-68D3-7333B6C42942}"/>
              </a:ext>
            </a:extLst>
          </p:cNvPr>
          <p:cNvSpPr txBox="1"/>
          <p:nvPr/>
        </p:nvSpPr>
        <p:spPr>
          <a:xfrm>
            <a:off x="5811407" y="4168989"/>
            <a:ext cx="97694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solidFill>
                  <a:schemeClr val="tx2"/>
                </a:solidFill>
                <a:cs typeface="Arial"/>
              </a:rPr>
              <a:t>DATA ENRICHMENT &amp; FILTERATION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DDCB52F-FDD0-261D-034A-B72639FB6F4B}"/>
              </a:ext>
            </a:extLst>
          </p:cNvPr>
          <p:cNvSpPr txBox="1"/>
          <p:nvPr/>
        </p:nvSpPr>
        <p:spPr>
          <a:xfrm>
            <a:off x="7177985" y="2672386"/>
            <a:ext cx="11968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Real Time Dashboards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20BDBDC-765F-CF25-C3E7-74D9706D0625}"/>
              </a:ext>
            </a:extLst>
          </p:cNvPr>
          <p:cNvSpPr txBox="1"/>
          <p:nvPr/>
        </p:nvSpPr>
        <p:spPr>
          <a:xfrm>
            <a:off x="7177985" y="3147822"/>
            <a:ext cx="11968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Alerts &amp; Notifications</a:t>
            </a:r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38CE18-599F-B42F-FE0F-C4FEAD189A5F}"/>
              </a:ext>
            </a:extLst>
          </p:cNvPr>
          <p:cNvSpPr txBox="1"/>
          <p:nvPr/>
        </p:nvSpPr>
        <p:spPr>
          <a:xfrm>
            <a:off x="7177985" y="4131257"/>
            <a:ext cx="11968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Report Generation</a:t>
            </a:r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557BA1E-83C8-B036-6CE9-E179CA4118AE}"/>
              </a:ext>
            </a:extLst>
          </p:cNvPr>
          <p:cNvSpPr txBox="1"/>
          <p:nvPr/>
        </p:nvSpPr>
        <p:spPr>
          <a:xfrm>
            <a:off x="7177985" y="3662334"/>
            <a:ext cx="11968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Aptos"/>
                <a:cs typeface="Arial"/>
              </a:rPr>
              <a:t>Maintenance Workflows</a:t>
            </a:r>
          </a:p>
        </p:txBody>
      </p:sp>
      <p:pic>
        <p:nvPicPr>
          <p:cNvPr id="86" name="Picture 85" descr="Predictive maintenance icon vector image can be used for ...">
            <a:extLst>
              <a:ext uri="{FF2B5EF4-FFF2-40B4-BE49-F238E27FC236}">
                <a16:creationId xmlns:a16="http://schemas.microsoft.com/office/drawing/2014/main" id="{DF06CC62-8FEB-8495-6BB6-FD7D87773A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0987" y="2095138"/>
            <a:ext cx="428255" cy="416813"/>
          </a:xfrm>
          <a:prstGeom prst="rect">
            <a:avLst/>
          </a:prstGeom>
        </p:spPr>
      </p:pic>
      <p:pic>
        <p:nvPicPr>
          <p:cNvPr id="87" name="Picture 86" descr="Azure Anomaly Detector Icon - Free SVG &amp; PNG Download | AZ-Icons">
            <a:extLst>
              <a:ext uri="{FF2B5EF4-FFF2-40B4-BE49-F238E27FC236}">
                <a16:creationId xmlns:a16="http://schemas.microsoft.com/office/drawing/2014/main" id="{5668C79C-539E-F270-6F5B-51E9107240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2454" y="2786922"/>
            <a:ext cx="380372" cy="355182"/>
          </a:xfrm>
          <a:prstGeom prst="rect">
            <a:avLst/>
          </a:prstGeom>
        </p:spPr>
      </p:pic>
      <p:pic>
        <p:nvPicPr>
          <p:cNvPr id="88" name="Picture 87" descr="Artificial intelligence - Free technology icons">
            <a:extLst>
              <a:ext uri="{FF2B5EF4-FFF2-40B4-BE49-F238E27FC236}">
                <a16:creationId xmlns:a16="http://schemas.microsoft.com/office/drawing/2014/main" id="{BD04AA2B-6B4D-D32E-63AB-1B2A8CE077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40135" y="3505116"/>
            <a:ext cx="474283" cy="480580"/>
          </a:xfrm>
          <a:prstGeom prst="rect">
            <a:avLst/>
          </a:prstGeom>
        </p:spPr>
      </p:pic>
      <p:pic>
        <p:nvPicPr>
          <p:cNvPr id="89" name="Picture 88" descr="Report - Free marketing icons">
            <a:extLst>
              <a:ext uri="{FF2B5EF4-FFF2-40B4-BE49-F238E27FC236}">
                <a16:creationId xmlns:a16="http://schemas.microsoft.com/office/drawing/2014/main" id="{8D5915E8-8DC6-385E-0548-82A3CC6ECC4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7265" y="4279434"/>
            <a:ext cx="424453" cy="424453"/>
          </a:xfrm>
          <a:prstGeom prst="rect">
            <a:avLst/>
          </a:prstGeom>
        </p:spPr>
      </p:pic>
      <p:pic>
        <p:nvPicPr>
          <p:cNvPr id="90" name="Picture 89" descr="Download Free Energy optimization Icons in PNG &amp; SVG">
            <a:extLst>
              <a:ext uri="{FF2B5EF4-FFF2-40B4-BE49-F238E27FC236}">
                <a16:creationId xmlns:a16="http://schemas.microsoft.com/office/drawing/2014/main" id="{8271987D-8DE5-4120-CEDC-45E5A54860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86461" y="5106928"/>
            <a:ext cx="387928" cy="387930"/>
          </a:xfrm>
          <a:prstGeom prst="rect">
            <a:avLst/>
          </a:prstGeom>
        </p:spPr>
      </p:pic>
      <p:sp>
        <p:nvSpPr>
          <p:cNvPr id="3" name="Arrow: Chevron 2">
            <a:extLst>
              <a:ext uri="{FF2B5EF4-FFF2-40B4-BE49-F238E27FC236}">
                <a16:creationId xmlns:a16="http://schemas.microsoft.com/office/drawing/2014/main" id="{1595F8EF-1A21-D075-F55C-AF8CEAD35C9D}"/>
              </a:ext>
            </a:extLst>
          </p:cNvPr>
          <p:cNvSpPr/>
          <p:nvPr/>
        </p:nvSpPr>
        <p:spPr>
          <a:xfrm>
            <a:off x="3390480" y="1711322"/>
            <a:ext cx="1657982" cy="371141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  <a:latin typeface="Aptos"/>
                <a:cs typeface="Arial"/>
              </a:rPr>
              <a:t>Data Process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6" name="Content Placeholder 2" descr="A blue and purple cubes&#10;&#10;AI-generated content may be incorrect.">
            <a:extLst>
              <a:ext uri="{FF2B5EF4-FFF2-40B4-BE49-F238E27FC236}">
                <a16:creationId xmlns:a16="http://schemas.microsoft.com/office/drawing/2014/main" id="{BAC61FF4-09F8-921A-3365-AA8662A7565F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16"/>
          <a:srcRect l="-211" t="64700" r="235" b="12616"/>
          <a:stretch>
            <a:fillRect/>
          </a:stretch>
        </p:blipFill>
        <p:spPr>
          <a:xfrm>
            <a:off x="-8429" y="-5207"/>
            <a:ext cx="12306697" cy="8105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935958-F786-D03F-906C-73A5096EFB2D}"/>
              </a:ext>
            </a:extLst>
          </p:cNvPr>
          <p:cNvSpPr txBox="1"/>
          <p:nvPr/>
        </p:nvSpPr>
        <p:spPr>
          <a:xfrm>
            <a:off x="455506" y="207817"/>
            <a:ext cx="560337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solidFill>
                  <a:schemeClr val="bg1"/>
                </a:solidFill>
                <a:latin typeface="Aptos"/>
                <a:cs typeface="Arial"/>
              </a:rPr>
              <a:t>FactoryMind</a:t>
            </a:r>
            <a:r>
              <a:rPr lang="en-US" sz="2400">
                <a:solidFill>
                  <a:schemeClr val="bg1"/>
                </a:solidFill>
                <a:latin typeface="Aptos"/>
                <a:cs typeface="Arial"/>
              </a:rPr>
              <a:t> : Unified Agentic AI Platform</a:t>
            </a:r>
          </a:p>
          <a:p>
            <a:endParaRPr lang="en-US" sz="1600">
              <a:solidFill>
                <a:srgbClr val="000048"/>
              </a:solidFill>
              <a:latin typeface="Aptos"/>
              <a:cs typeface="Arial"/>
            </a:endParaRPr>
          </a:p>
          <a:p>
            <a:pPr algn="l"/>
            <a:endParaRPr lang="en-IN" sz="2400">
              <a:solidFill>
                <a:schemeClr val="bg1"/>
              </a:solidFill>
              <a:latin typeface="Apto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59DA6-B2BF-8792-AD1F-23DAFC891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1B0EF-F52D-5F0F-23C8-716084726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70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5" name="Content Placeholder 2" descr="A blue and purple cubes&#10;&#10;AI-generated content may be incorrect.">
            <a:extLst>
              <a:ext uri="{FF2B5EF4-FFF2-40B4-BE49-F238E27FC236}">
                <a16:creationId xmlns:a16="http://schemas.microsoft.com/office/drawing/2014/main" id="{86F262D1-4AB4-FD55-C6B0-D00366ABC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1" t="64700" r="235" b="12616"/>
          <a:stretch>
            <a:fillRect/>
          </a:stretch>
        </p:blipFill>
        <p:spPr>
          <a:xfrm>
            <a:off x="-8429" y="-5207"/>
            <a:ext cx="12306697" cy="8105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80BF1E-56CF-6BA4-CABA-269096FD1D17}"/>
              </a:ext>
            </a:extLst>
          </p:cNvPr>
          <p:cNvSpPr txBox="1"/>
          <p:nvPr/>
        </p:nvSpPr>
        <p:spPr>
          <a:xfrm>
            <a:off x="455506" y="207817"/>
            <a:ext cx="560337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/>
                <a:cs typeface="Arial"/>
              </a:rPr>
              <a:t>FactoryMind : Unified Agentic AI Platform</a:t>
            </a:r>
          </a:p>
          <a:p>
            <a:endParaRPr lang="en-US" sz="1600">
              <a:solidFill>
                <a:srgbClr val="000048"/>
              </a:solidFill>
              <a:latin typeface="Aptos"/>
              <a:cs typeface="Arial"/>
            </a:endParaRPr>
          </a:p>
          <a:p>
            <a:pPr algn="l"/>
            <a:endParaRPr lang="en-IN" sz="2400">
              <a:solidFill>
                <a:schemeClr val="bg1"/>
              </a:solidFill>
              <a:latin typeface="Aptos"/>
              <a:cs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3D9963-E6B0-282D-7D6E-164AC114B68D}"/>
              </a:ext>
            </a:extLst>
          </p:cNvPr>
          <p:cNvSpPr/>
          <p:nvPr/>
        </p:nvSpPr>
        <p:spPr>
          <a:xfrm>
            <a:off x="455886" y="2262352"/>
            <a:ext cx="4540467" cy="362081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BDBC8B-B1EE-6D3F-7898-9BDB6EE1A40F}"/>
              </a:ext>
            </a:extLst>
          </p:cNvPr>
          <p:cNvSpPr/>
          <p:nvPr/>
        </p:nvSpPr>
        <p:spPr>
          <a:xfrm>
            <a:off x="354067" y="2147394"/>
            <a:ext cx="2379277" cy="7304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DBAA41-5CE4-F6A7-40DB-40FCE03D7570}"/>
              </a:ext>
            </a:extLst>
          </p:cNvPr>
          <p:cNvSpPr/>
          <p:nvPr/>
        </p:nvSpPr>
        <p:spPr>
          <a:xfrm>
            <a:off x="5251231" y="1079938"/>
            <a:ext cx="6208984" cy="4803226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AC1E7B-4B5F-9F20-93F0-D7942BCA8DB8}"/>
              </a:ext>
            </a:extLst>
          </p:cNvPr>
          <p:cNvSpPr txBox="1"/>
          <p:nvPr/>
        </p:nvSpPr>
        <p:spPr>
          <a:xfrm>
            <a:off x="630620" y="1195551"/>
            <a:ext cx="342637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2"/>
                </a:solidFill>
                <a:latin typeface="Aptos"/>
                <a:cs typeface="Arial"/>
              </a:rPr>
              <a:t>Built to Scale. </a:t>
            </a:r>
          </a:p>
          <a:p>
            <a:r>
              <a:rPr lang="en-US" sz="2400" b="1">
                <a:solidFill>
                  <a:schemeClr val="tx2"/>
                </a:solidFill>
                <a:latin typeface="Aptos"/>
                <a:cs typeface="Arial"/>
              </a:rPr>
              <a:t>Designed </a:t>
            </a:r>
            <a:r>
              <a:rPr lang="en-US" sz="2400">
                <a:solidFill>
                  <a:schemeClr val="tx2"/>
                </a:solidFill>
                <a:latin typeface="Aptos"/>
                <a:cs typeface="Arial"/>
              </a:rPr>
              <a:t>to Evolve.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4FF43D-D62D-001A-2A6D-0B8D1B27ED88}"/>
              </a:ext>
            </a:extLst>
          </p:cNvPr>
          <p:cNvSpPr txBox="1"/>
          <p:nvPr/>
        </p:nvSpPr>
        <p:spPr>
          <a:xfrm>
            <a:off x="545223" y="2371397"/>
            <a:ext cx="198776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ptos"/>
                <a:cs typeface="Arial"/>
              </a:rPr>
              <a:t>Scalable / Reusable</a:t>
            </a:r>
            <a:endParaRPr lang="en-US">
              <a:solidFill>
                <a:schemeClr val="bg1"/>
              </a:solidFill>
              <a:latin typeface="Aptos"/>
            </a:endParaRPr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78B8CE83-C9F8-B7AA-D2A0-EA53D55C0D49}"/>
              </a:ext>
            </a:extLst>
          </p:cNvPr>
          <p:cNvSpPr/>
          <p:nvPr/>
        </p:nvSpPr>
        <p:spPr>
          <a:xfrm>
            <a:off x="633845" y="3023755"/>
            <a:ext cx="914400" cy="914400"/>
          </a:xfrm>
          <a:prstGeom prst="round2Diag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CCB0AFC5-DCCD-6842-4E06-BB64131E61B8}"/>
              </a:ext>
            </a:extLst>
          </p:cNvPr>
          <p:cNvSpPr/>
          <p:nvPr/>
        </p:nvSpPr>
        <p:spPr>
          <a:xfrm>
            <a:off x="3733799" y="4585500"/>
            <a:ext cx="914400" cy="914400"/>
          </a:xfrm>
          <a:prstGeom prst="round2Diag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E08B47-69F1-E75A-15B0-2960C4C42D60}"/>
              </a:ext>
            </a:extLst>
          </p:cNvPr>
          <p:cNvSpPr txBox="1"/>
          <p:nvPr/>
        </p:nvSpPr>
        <p:spPr>
          <a:xfrm>
            <a:off x="1774815" y="3058151"/>
            <a:ext cx="2743200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chemeClr val="tx2"/>
                </a:solidFill>
                <a:latin typeface="Aptos"/>
                <a:cs typeface="Arial"/>
              </a:rPr>
              <a:t>Scalable for Real-World Deployment</a:t>
            </a:r>
          </a:p>
        </p:txBody>
      </p:sp>
      <p:pic>
        <p:nvPicPr>
          <p:cNvPr id="29" name="Picture 28" descr="Vector tick icon stock vector. Illustration of quality - 91223175">
            <a:extLst>
              <a:ext uri="{FF2B5EF4-FFF2-40B4-BE49-F238E27FC236}">
                <a16:creationId xmlns:a16="http://schemas.microsoft.com/office/drawing/2014/main" id="{F07F56E9-95F2-0C53-FCDD-6A620545E5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20" t="19254" r="18896" b="20270"/>
          <a:stretch>
            <a:fillRect/>
          </a:stretch>
        </p:blipFill>
        <p:spPr>
          <a:xfrm>
            <a:off x="1775710" y="3331828"/>
            <a:ext cx="133101" cy="142576"/>
          </a:xfrm>
          <a:prstGeom prst="rect">
            <a:avLst/>
          </a:prstGeom>
        </p:spPr>
      </p:pic>
      <p:pic>
        <p:nvPicPr>
          <p:cNvPr id="30" name="Picture 29" descr="Vector tick icon stock vector. Illustration of quality - 91223175">
            <a:extLst>
              <a:ext uri="{FF2B5EF4-FFF2-40B4-BE49-F238E27FC236}">
                <a16:creationId xmlns:a16="http://schemas.microsoft.com/office/drawing/2014/main" id="{061D0BB2-C749-AE47-A1F3-D8827E687C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20" t="19254" r="18896" b="20270"/>
          <a:stretch>
            <a:fillRect/>
          </a:stretch>
        </p:blipFill>
        <p:spPr>
          <a:xfrm>
            <a:off x="1775709" y="3543350"/>
            <a:ext cx="133101" cy="1425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93E7AF3-F275-C8FF-21C9-FA1D78E4201F}"/>
              </a:ext>
            </a:extLst>
          </p:cNvPr>
          <p:cNvSpPr txBox="1"/>
          <p:nvPr/>
        </p:nvSpPr>
        <p:spPr>
          <a:xfrm>
            <a:off x="811138" y="4660387"/>
            <a:ext cx="2743200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200" b="1" dirty="0">
                <a:solidFill>
                  <a:schemeClr val="tx2"/>
                </a:solidFill>
                <a:latin typeface="Aptos"/>
                <a:cs typeface="Arial"/>
              </a:rPr>
              <a:t>Reusable across industries &amp; Use Case</a:t>
            </a:r>
            <a:endParaRPr lang="en-US" sz="1200" b="1" dirty="0">
              <a:solidFill>
                <a:schemeClr val="tx2"/>
              </a:solidFill>
              <a:cs typeface="Arial"/>
            </a:endParaRPr>
          </a:p>
        </p:txBody>
      </p:sp>
      <p:pic>
        <p:nvPicPr>
          <p:cNvPr id="32" name="Picture 31" descr="Vector tick icon stock vector. Illustration of quality - 91223175">
            <a:extLst>
              <a:ext uri="{FF2B5EF4-FFF2-40B4-BE49-F238E27FC236}">
                <a16:creationId xmlns:a16="http://schemas.microsoft.com/office/drawing/2014/main" id="{A8EA3741-397F-4732-F88A-9BD4D839C8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20" t="19254" r="18896" b="20270"/>
          <a:stretch>
            <a:fillRect/>
          </a:stretch>
        </p:blipFill>
        <p:spPr>
          <a:xfrm>
            <a:off x="3368982" y="5001305"/>
            <a:ext cx="133101" cy="142576"/>
          </a:xfrm>
          <a:prstGeom prst="rect">
            <a:avLst/>
          </a:prstGeom>
        </p:spPr>
      </p:pic>
      <p:pic>
        <p:nvPicPr>
          <p:cNvPr id="33" name="Picture 32" descr="Vector tick icon stock vector. Illustration of quality - 91223175">
            <a:extLst>
              <a:ext uri="{FF2B5EF4-FFF2-40B4-BE49-F238E27FC236}">
                <a16:creationId xmlns:a16="http://schemas.microsoft.com/office/drawing/2014/main" id="{D7B83D3D-DFCC-BFCC-7351-893A0CAB08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20" t="19254" r="18896" b="20270"/>
          <a:stretch>
            <a:fillRect/>
          </a:stretch>
        </p:blipFill>
        <p:spPr>
          <a:xfrm>
            <a:off x="3368982" y="5178202"/>
            <a:ext cx="133101" cy="142576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BD12CF-BD24-B68A-A32D-9F579370221C}"/>
              </a:ext>
            </a:extLst>
          </p:cNvPr>
          <p:cNvCxnSpPr/>
          <p:nvPr/>
        </p:nvCxnSpPr>
        <p:spPr>
          <a:xfrm flipV="1">
            <a:off x="634511" y="4237890"/>
            <a:ext cx="4042997" cy="2344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038E765-71B6-1195-C250-165FE30C1D1D}"/>
              </a:ext>
            </a:extLst>
          </p:cNvPr>
          <p:cNvSpPr txBox="1"/>
          <p:nvPr/>
        </p:nvSpPr>
        <p:spPr>
          <a:xfrm>
            <a:off x="2051538" y="3333751"/>
            <a:ext cx="2743199" cy="1384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chemeClr val="tx2"/>
                </a:solidFill>
                <a:latin typeface="Aptos"/>
                <a:cs typeface="Arial"/>
              </a:rPr>
              <a:t>High </a:t>
            </a:r>
            <a:r>
              <a:rPr lang="en-US" sz="900" err="1">
                <a:solidFill>
                  <a:schemeClr val="tx2"/>
                </a:solidFill>
                <a:latin typeface="Aptos"/>
                <a:cs typeface="Arial"/>
              </a:rPr>
              <a:t>availablity</a:t>
            </a:r>
            <a:r>
              <a:rPr lang="en-US" sz="900">
                <a:solidFill>
                  <a:schemeClr val="tx2"/>
                </a:solidFill>
                <a:latin typeface="Aptos"/>
                <a:cs typeface="Arial"/>
              </a:rPr>
              <a:t>, fault tolerance, and automatic scaling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801CBF-96B8-B025-FC39-E556046BDF37}"/>
              </a:ext>
            </a:extLst>
          </p:cNvPr>
          <p:cNvSpPr txBox="1"/>
          <p:nvPr/>
        </p:nvSpPr>
        <p:spPr>
          <a:xfrm>
            <a:off x="2063632" y="3541788"/>
            <a:ext cx="2743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solidFill>
                  <a:schemeClr val="tx2"/>
                </a:solidFill>
                <a:latin typeface="Aptos"/>
                <a:cs typeface="Arial"/>
              </a:rPr>
              <a:t>Support to edge cloud deployments, low latency and real operations</a:t>
            </a:r>
          </a:p>
        </p:txBody>
      </p:sp>
      <p:pic>
        <p:nvPicPr>
          <p:cNvPr id="38" name="Picture 37" descr="Scalability - Free arrows icons">
            <a:extLst>
              <a:ext uri="{FF2B5EF4-FFF2-40B4-BE49-F238E27FC236}">
                <a16:creationId xmlns:a16="http://schemas.microsoft.com/office/drawing/2014/main" id="{4BCCDA6C-34F4-F51E-165B-4828DA2D3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69" y="3261147"/>
            <a:ext cx="474254" cy="458268"/>
          </a:xfrm>
          <a:prstGeom prst="rect">
            <a:avLst/>
          </a:prstGeom>
        </p:spPr>
      </p:pic>
      <p:pic>
        <p:nvPicPr>
          <p:cNvPr id="39" name="Picture 38" descr="Industry Flaticons Flat icon | Freepik">
            <a:extLst>
              <a:ext uri="{FF2B5EF4-FFF2-40B4-BE49-F238E27FC236}">
                <a16:creationId xmlns:a16="http://schemas.microsoft.com/office/drawing/2014/main" id="{05FBEFB4-3DD9-B27B-7B75-57FA5C5757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0428" y="4812323"/>
            <a:ext cx="526472" cy="51048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70203F9-877B-5381-5836-1789F4833754}"/>
              </a:ext>
            </a:extLst>
          </p:cNvPr>
          <p:cNvSpPr txBox="1"/>
          <p:nvPr/>
        </p:nvSpPr>
        <p:spPr>
          <a:xfrm>
            <a:off x="857915" y="4996296"/>
            <a:ext cx="2444794" cy="1384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900">
                <a:solidFill>
                  <a:schemeClr val="tx2"/>
                </a:solidFill>
                <a:latin typeface="Aptos"/>
                <a:cs typeface="Arial"/>
              </a:rPr>
              <a:t>Easy Integration with existing enterprise systems</a:t>
            </a:r>
            <a:endParaRPr lang="en-US">
              <a:solidFill>
                <a:schemeClr val="tx2"/>
              </a:solidFill>
              <a:cs typeface="Arial" panose="020B060402020202020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A86B94-0A2F-CBD2-9F92-9079E965EBA6}"/>
              </a:ext>
            </a:extLst>
          </p:cNvPr>
          <p:cNvSpPr txBox="1"/>
          <p:nvPr/>
        </p:nvSpPr>
        <p:spPr>
          <a:xfrm>
            <a:off x="857915" y="5171862"/>
            <a:ext cx="2444794" cy="1384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900">
                <a:solidFill>
                  <a:schemeClr val="tx2"/>
                </a:solidFill>
                <a:latin typeface="Aptos"/>
                <a:cs typeface="Arial" panose="020B0604020202020204"/>
              </a:rPr>
              <a:t>Modular and configurable for different machinery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DA46F1C-23B7-2813-5F73-C5767A84BA0F}"/>
              </a:ext>
            </a:extLst>
          </p:cNvPr>
          <p:cNvSpPr/>
          <p:nvPr/>
        </p:nvSpPr>
        <p:spPr>
          <a:xfrm>
            <a:off x="4992938" y="1062622"/>
            <a:ext cx="1101558" cy="1081505"/>
          </a:xfrm>
          <a:prstGeom prst="ellipse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C6BD402-40D9-6E83-D06D-2867DA3C8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7148" y="1342922"/>
            <a:ext cx="550607" cy="52602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1410136-B7A4-2BCC-725B-4A6F9A5D3216}"/>
              </a:ext>
            </a:extLst>
          </p:cNvPr>
          <p:cNvSpPr txBox="1"/>
          <p:nvPr/>
        </p:nvSpPr>
        <p:spPr>
          <a:xfrm>
            <a:off x="6407354" y="1343742"/>
            <a:ext cx="27431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bg1"/>
                </a:solidFill>
                <a:latin typeface="Aptos"/>
                <a:cs typeface="Arial"/>
              </a:rPr>
              <a:t>Roadmap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2005C8-E710-CB17-D2A9-1FCEECAD813C}"/>
              </a:ext>
            </a:extLst>
          </p:cNvPr>
          <p:cNvSpPr txBox="1"/>
          <p:nvPr/>
        </p:nvSpPr>
        <p:spPr>
          <a:xfrm>
            <a:off x="6425739" y="1679878"/>
            <a:ext cx="3955844" cy="1846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solidFill>
                  <a:schemeClr val="bg2">
                    <a:lumMod val="85000"/>
                  </a:schemeClr>
                </a:solidFill>
                <a:latin typeface="Aptos"/>
                <a:cs typeface="Arial"/>
              </a:rPr>
              <a:t>Building the future of autonomous manufacturing</a:t>
            </a:r>
            <a:endParaRPr lang="en-US" sz="1200">
              <a:solidFill>
                <a:schemeClr val="bg2">
                  <a:lumMod val="85000"/>
                </a:schemeClr>
              </a:solidFill>
              <a:latin typeface="Aptos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80A8680-6E09-5561-65EA-17D935C94310}"/>
              </a:ext>
            </a:extLst>
          </p:cNvPr>
          <p:cNvCxnSpPr>
            <a:cxnSpLocks/>
          </p:cNvCxnSpPr>
          <p:nvPr/>
        </p:nvCxnSpPr>
        <p:spPr>
          <a:xfrm>
            <a:off x="8194953" y="2486535"/>
            <a:ext cx="1674" cy="29491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8E853B2-9FC0-D6D1-FEF8-D320413BCCFD}"/>
              </a:ext>
            </a:extLst>
          </p:cNvPr>
          <p:cNvCxnSpPr>
            <a:cxnSpLocks/>
          </p:cNvCxnSpPr>
          <p:nvPr/>
        </p:nvCxnSpPr>
        <p:spPr>
          <a:xfrm>
            <a:off x="6746316" y="2486653"/>
            <a:ext cx="1674" cy="29491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16A3B74-30E2-EB2F-2F79-261753A09A56}"/>
              </a:ext>
            </a:extLst>
          </p:cNvPr>
          <p:cNvCxnSpPr>
            <a:cxnSpLocks/>
          </p:cNvCxnSpPr>
          <p:nvPr/>
        </p:nvCxnSpPr>
        <p:spPr>
          <a:xfrm>
            <a:off x="9685459" y="2461533"/>
            <a:ext cx="1674" cy="29491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9E6DF3B-2A9D-BBD1-9B43-AEF24F309ACE}"/>
              </a:ext>
            </a:extLst>
          </p:cNvPr>
          <p:cNvSpPr txBox="1"/>
          <p:nvPr/>
        </p:nvSpPr>
        <p:spPr>
          <a:xfrm>
            <a:off x="5367495" y="2512086"/>
            <a:ext cx="133643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cs typeface="Arial"/>
              </a:rPr>
              <a:t>Foundational (MVP)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D42752-535D-AB4F-5D1B-FC57FB85DA6C}"/>
              </a:ext>
            </a:extLst>
          </p:cNvPr>
          <p:cNvSpPr txBox="1"/>
          <p:nvPr/>
        </p:nvSpPr>
        <p:spPr>
          <a:xfrm>
            <a:off x="6858000" y="2512085"/>
            <a:ext cx="133643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cs typeface="Arial"/>
              </a:rPr>
              <a:t>Expansion</a:t>
            </a:r>
          </a:p>
          <a:p>
            <a:pPr algn="ctr"/>
            <a:r>
              <a:rPr lang="en-US" sz="1400">
                <a:solidFill>
                  <a:schemeClr val="bg1"/>
                </a:solidFill>
                <a:cs typeface="Arial"/>
              </a:rPr>
              <a:t>(Beta)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70AD7C-0B96-A9C3-3175-12D9A8D986C3}"/>
              </a:ext>
            </a:extLst>
          </p:cNvPr>
          <p:cNvSpPr txBox="1"/>
          <p:nvPr/>
        </p:nvSpPr>
        <p:spPr>
          <a:xfrm>
            <a:off x="8306637" y="2512084"/>
            <a:ext cx="133643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cs typeface="Arial"/>
              </a:rPr>
              <a:t>Intelligence</a:t>
            </a:r>
          </a:p>
          <a:p>
            <a:pPr algn="ctr"/>
            <a:r>
              <a:rPr lang="en-US" sz="1400">
                <a:solidFill>
                  <a:schemeClr val="bg1"/>
                </a:solidFill>
                <a:cs typeface="Arial"/>
              </a:rPr>
              <a:t>(Scale)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946541-3735-3E3A-18EB-5A17D8FA1442}"/>
              </a:ext>
            </a:extLst>
          </p:cNvPr>
          <p:cNvSpPr txBox="1"/>
          <p:nvPr/>
        </p:nvSpPr>
        <p:spPr>
          <a:xfrm>
            <a:off x="9864131" y="2512083"/>
            <a:ext cx="133643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err="1">
                <a:solidFill>
                  <a:schemeClr val="bg1"/>
                </a:solidFill>
                <a:cs typeface="Arial"/>
              </a:rPr>
              <a:t>Autonmous</a:t>
            </a:r>
            <a:endParaRPr lang="en-US"/>
          </a:p>
          <a:p>
            <a:pPr algn="ctr"/>
            <a:r>
              <a:rPr lang="en-US" sz="1400">
                <a:solidFill>
                  <a:schemeClr val="bg1"/>
                </a:solidFill>
                <a:cs typeface="Arial"/>
              </a:rPr>
              <a:t>(Vision)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D77EE6E-C3F4-3323-0560-49AF98FCC020}"/>
              </a:ext>
            </a:extLst>
          </p:cNvPr>
          <p:cNvSpPr/>
          <p:nvPr/>
        </p:nvSpPr>
        <p:spPr>
          <a:xfrm>
            <a:off x="5582278" y="3057630"/>
            <a:ext cx="914400" cy="22776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cs typeface="Arial"/>
              </a:rPr>
              <a:t>0-3 Month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CCBEFA1-24A8-08E0-E49C-9F38DAFA05FE}"/>
              </a:ext>
            </a:extLst>
          </p:cNvPr>
          <p:cNvSpPr/>
          <p:nvPr/>
        </p:nvSpPr>
        <p:spPr>
          <a:xfrm>
            <a:off x="7072783" y="3057629"/>
            <a:ext cx="914400" cy="22776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cs typeface="Arial"/>
              </a:rPr>
              <a:t>3-6 Month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ED25CAC-066A-90F1-775D-47EAF7A88E83}"/>
              </a:ext>
            </a:extLst>
          </p:cNvPr>
          <p:cNvSpPr/>
          <p:nvPr/>
        </p:nvSpPr>
        <p:spPr>
          <a:xfrm>
            <a:off x="8521421" y="3057630"/>
            <a:ext cx="914400" cy="22776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cs typeface="Arial"/>
              </a:rPr>
              <a:t>6-12 Month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DBD794F-91D0-DA16-E803-22156B7CCF8D}"/>
              </a:ext>
            </a:extLst>
          </p:cNvPr>
          <p:cNvSpPr/>
          <p:nvPr/>
        </p:nvSpPr>
        <p:spPr>
          <a:xfrm>
            <a:off x="10078914" y="3057629"/>
            <a:ext cx="914400" cy="227763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cs typeface="Arial"/>
              </a:rPr>
              <a:t>12+ Month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241637-1152-608F-0051-B3D84749DA7C}"/>
              </a:ext>
            </a:extLst>
          </p:cNvPr>
          <p:cNvSpPr txBox="1"/>
          <p:nvPr/>
        </p:nvSpPr>
        <p:spPr>
          <a:xfrm>
            <a:off x="5543341" y="3516922"/>
            <a:ext cx="1286189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Real Time Monitoring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AI based </a:t>
            </a:r>
            <a:r>
              <a:rPr lang="en-US" sz="1200" err="1">
                <a:solidFill>
                  <a:srgbClr val="FFFFFF"/>
                </a:solidFill>
                <a:cs typeface="Arial"/>
              </a:rPr>
              <a:t>anomoly</a:t>
            </a:r>
            <a:r>
              <a:rPr lang="en-US" sz="1200">
                <a:solidFill>
                  <a:srgbClr val="FFFFFF"/>
                </a:solidFill>
                <a:cs typeface="Arial"/>
              </a:rPr>
              <a:t>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Predictive Maintenance System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77312D6-DF5A-982A-026D-FE0BB0DAC084}"/>
              </a:ext>
            </a:extLst>
          </p:cNvPr>
          <p:cNvSpPr txBox="1"/>
          <p:nvPr/>
        </p:nvSpPr>
        <p:spPr>
          <a:xfrm>
            <a:off x="6832879" y="3567163"/>
            <a:ext cx="128618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Advanced AI model &amp; alerts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AI powered quality inspection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Integration with enterprise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30BB40-5944-7859-7120-4E8DE96686FF}"/>
              </a:ext>
            </a:extLst>
          </p:cNvPr>
          <p:cNvSpPr txBox="1"/>
          <p:nvPr/>
        </p:nvSpPr>
        <p:spPr>
          <a:xfrm>
            <a:off x="8331758" y="3542043"/>
            <a:ext cx="1286189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AI Driven Root cause analysis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Autonomous maintenance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Energy optimization &amp; </a:t>
            </a:r>
            <a:r>
              <a:rPr lang="en-US" sz="1200" err="1">
                <a:solidFill>
                  <a:srgbClr val="FFFFFF"/>
                </a:solidFill>
                <a:cs typeface="Arial"/>
              </a:rPr>
              <a:t>sustainbility</a:t>
            </a:r>
            <a:endParaRPr lang="en-US" sz="1200">
              <a:solidFill>
                <a:srgbClr val="FFFFFF"/>
              </a:solidFill>
              <a:cs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75FD82-7ACD-F841-3BC2-6042E4F81787}"/>
              </a:ext>
            </a:extLst>
          </p:cNvPr>
          <p:cNvSpPr txBox="1"/>
          <p:nvPr/>
        </p:nvSpPr>
        <p:spPr>
          <a:xfrm>
            <a:off x="9864131" y="3542042"/>
            <a:ext cx="1286189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err="1">
                <a:solidFill>
                  <a:srgbClr val="FFFFFF"/>
                </a:solidFill>
                <a:cs typeface="Arial"/>
              </a:rPr>
              <a:t>Self Optimizing</a:t>
            </a:r>
            <a:r>
              <a:rPr lang="en-US" sz="1200">
                <a:solidFill>
                  <a:srgbClr val="FFFFFF"/>
                </a:solidFill>
                <a:cs typeface="Arial"/>
              </a:rPr>
              <a:t> Operations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Global Scale, </a:t>
            </a:r>
            <a:r>
              <a:rPr lang="en-US" sz="1200" err="1">
                <a:solidFill>
                  <a:srgbClr val="FFFFFF"/>
                </a:solidFill>
                <a:cs typeface="Arial"/>
              </a:rPr>
              <a:t>Multi tenant</a:t>
            </a:r>
            <a:r>
              <a:rPr lang="en-US" sz="1200">
                <a:solidFill>
                  <a:srgbClr val="FFFFFF"/>
                </a:solidFill>
                <a:cs typeface="Arial"/>
              </a:rPr>
              <a:t> platforms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FFFFFF"/>
              </a:solidFill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FFFFFF"/>
                </a:solidFill>
                <a:cs typeface="Arial"/>
              </a:rPr>
              <a:t>Continuous Learning &amp; Development</a:t>
            </a: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E8346-488D-3A2B-278B-B41661E61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828B9-6F6E-E5FC-B92B-3CBD3CE90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966B9-C743-E48D-D4DB-D378FA4F7462}"/>
              </a:ext>
            </a:extLst>
          </p:cNvPr>
          <p:cNvSpPr txBox="1"/>
          <p:nvPr/>
        </p:nvSpPr>
        <p:spPr>
          <a:xfrm>
            <a:off x="9378947" y="5674978"/>
            <a:ext cx="144957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Aptos"/>
                <a:cs typeface="Arial"/>
              </a:rPr>
              <a:t>Sample Report</a:t>
            </a:r>
            <a:endParaRPr lang="en-US" sz="1600">
              <a:solidFill>
                <a:schemeClr val="tx2"/>
              </a:solidFill>
              <a:latin typeface="Aptos"/>
            </a:endParaRPr>
          </a:p>
        </p:txBody>
      </p:sp>
      <p:pic>
        <p:nvPicPr>
          <p:cNvPr id="11" name="Picture 10" descr="A screenshot of a report&#10;&#10;AI-generated content may be incorrect.">
            <a:extLst>
              <a:ext uri="{FF2B5EF4-FFF2-40B4-BE49-F238E27FC236}">
                <a16:creationId xmlns:a16="http://schemas.microsoft.com/office/drawing/2014/main" id="{F610C5C1-552B-4685-7381-EE8ED4FF4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728" y="1194292"/>
            <a:ext cx="2990758" cy="4382177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18" name="Content Placeholder 2" descr="A blue and purple cubes&#10;&#10;AI-generated content may be incorrect.">
            <a:extLst>
              <a:ext uri="{FF2B5EF4-FFF2-40B4-BE49-F238E27FC236}">
                <a16:creationId xmlns:a16="http://schemas.microsoft.com/office/drawing/2014/main" id="{F04A6752-9EA0-B9AF-9A09-0D62B2EA95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11" t="64700" r="235" b="12616"/>
          <a:stretch>
            <a:fillRect/>
          </a:stretch>
        </p:blipFill>
        <p:spPr>
          <a:xfrm>
            <a:off x="-33209" y="-5207"/>
            <a:ext cx="12331477" cy="8105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6495786-0AC4-0DB1-34B9-AD0A1E7911F1}"/>
              </a:ext>
            </a:extLst>
          </p:cNvPr>
          <p:cNvSpPr txBox="1"/>
          <p:nvPr/>
        </p:nvSpPr>
        <p:spPr>
          <a:xfrm>
            <a:off x="455506" y="207817"/>
            <a:ext cx="560337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/>
                <a:cs typeface="Arial"/>
              </a:rPr>
              <a:t>FactoryMind : Unified Agentic AI Platform</a:t>
            </a:r>
          </a:p>
          <a:p>
            <a:endParaRPr lang="en-US" sz="1600">
              <a:solidFill>
                <a:srgbClr val="000048"/>
              </a:solidFill>
              <a:latin typeface="Aptos"/>
              <a:cs typeface="Arial"/>
            </a:endParaRPr>
          </a:p>
          <a:p>
            <a:pPr algn="l"/>
            <a:endParaRPr lang="en-IN" sz="2400">
              <a:solidFill>
                <a:schemeClr val="bg1"/>
              </a:solidFill>
              <a:latin typeface="Aptos"/>
              <a:cs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F59BB62-5EDE-22B4-5B06-DA791ED7BE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4" b="5219"/>
          <a:stretch>
            <a:fillRect/>
          </a:stretch>
        </p:blipFill>
        <p:spPr>
          <a:xfrm>
            <a:off x="455506" y="1290145"/>
            <a:ext cx="3747549" cy="2063645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C936320-3B9F-7854-88DD-78296CB9E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" t="3573" r="750" b="5743"/>
          <a:stretch>
            <a:fillRect/>
          </a:stretch>
        </p:blipFill>
        <p:spPr>
          <a:xfrm>
            <a:off x="4382009" y="1290144"/>
            <a:ext cx="3747549" cy="2052495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1E4C94-EEB3-ED74-CA67-C8D417C2C2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703" b="3703"/>
          <a:stretch>
            <a:fillRect/>
          </a:stretch>
        </p:blipFill>
        <p:spPr>
          <a:xfrm>
            <a:off x="448108" y="3504210"/>
            <a:ext cx="3747549" cy="195188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3FA73A1-B613-F8CD-7AF0-059F71DEE0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" t="4094" r="750" b="5222"/>
          <a:stretch>
            <a:fillRect/>
          </a:stretch>
        </p:blipFill>
        <p:spPr>
          <a:xfrm>
            <a:off x="4382010" y="3515360"/>
            <a:ext cx="3747549" cy="19407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A65CDA2-8590-4818-0CE3-AE326DC32D70}"/>
              </a:ext>
            </a:extLst>
          </p:cNvPr>
          <p:cNvSpPr txBox="1"/>
          <p:nvPr/>
        </p:nvSpPr>
        <p:spPr>
          <a:xfrm>
            <a:off x="457970" y="5674977"/>
            <a:ext cx="289923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Aptos"/>
                <a:cs typeface="Arial"/>
              </a:rPr>
              <a:t>Snapshots of Application - 1/2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FFA3D8-4E9B-347D-8497-07062DC9D761}"/>
              </a:ext>
            </a:extLst>
          </p:cNvPr>
          <p:cNvSpPr txBox="1"/>
          <p:nvPr/>
        </p:nvSpPr>
        <p:spPr>
          <a:xfrm>
            <a:off x="520498" y="3208385"/>
            <a:ext cx="2774174" cy="1538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  <a:cs typeface="Arial"/>
              </a:rPr>
              <a:t>Fig 1: Predictive Maintenance Dashboard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A1D6C0-5392-CF1F-3410-B7535575DB48}"/>
              </a:ext>
            </a:extLst>
          </p:cNvPr>
          <p:cNvSpPr txBox="1"/>
          <p:nvPr/>
        </p:nvSpPr>
        <p:spPr>
          <a:xfrm>
            <a:off x="483019" y="5302208"/>
            <a:ext cx="2774174" cy="1538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cs typeface="Arial"/>
              </a:rPr>
              <a:t>Fig 3 :  Quality Vision AI Dashboard</a:t>
            </a:r>
            <a:endParaRPr lang="en-US" sz="1000" dirty="0">
              <a:solidFill>
                <a:schemeClr val="tx2"/>
              </a:solidFill>
              <a:cs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6A319D-DCBF-61E5-36C9-84ABA650DA84}"/>
              </a:ext>
            </a:extLst>
          </p:cNvPr>
          <p:cNvSpPr txBox="1"/>
          <p:nvPr/>
        </p:nvSpPr>
        <p:spPr>
          <a:xfrm>
            <a:off x="4439883" y="3188751"/>
            <a:ext cx="2774174" cy="1538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cs typeface="Arial"/>
              </a:rPr>
              <a:t>Fig 2 : Sustainability</a:t>
            </a:r>
            <a:r>
              <a:rPr lang="en-US" sz="1000" dirty="0">
                <a:solidFill>
                  <a:schemeClr val="tx2"/>
                </a:solidFill>
                <a:cs typeface="Arial"/>
              </a:rPr>
              <a:t> Dashboard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AC32D1-B538-5C2D-B43F-3EF45D06D309}"/>
              </a:ext>
            </a:extLst>
          </p:cNvPr>
          <p:cNvSpPr txBox="1"/>
          <p:nvPr/>
        </p:nvSpPr>
        <p:spPr>
          <a:xfrm>
            <a:off x="4405159" y="5296206"/>
            <a:ext cx="2774174" cy="1538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cs typeface="Arial"/>
              </a:rPr>
              <a:t>Fig 4 : Overview</a:t>
            </a:r>
            <a:r>
              <a:rPr lang="en-US" sz="1000" dirty="0">
                <a:solidFill>
                  <a:schemeClr val="tx2"/>
                </a:solidFill>
                <a:cs typeface="Arial"/>
              </a:rPr>
              <a:t> Dashboard</a:t>
            </a:r>
          </a:p>
        </p:txBody>
      </p:sp>
    </p:spTree>
    <p:extLst>
      <p:ext uri="{BB962C8B-B14F-4D97-AF65-F5344CB8AC3E}">
        <p14:creationId xmlns:p14="http://schemas.microsoft.com/office/powerpoint/2010/main" val="228430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DE614-23C4-BCB2-97C7-49097758A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11A21-DB87-5EF6-5478-FFE4FF798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A9A8E-5A8A-DE4C-AE9F-B008873BE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8" name="Content Placeholder 2" descr="A blue and purple cubes&#10;&#10;AI-generated content may be incorrect.">
            <a:extLst>
              <a:ext uri="{FF2B5EF4-FFF2-40B4-BE49-F238E27FC236}">
                <a16:creationId xmlns:a16="http://schemas.microsoft.com/office/drawing/2014/main" id="{86685B61-0E3A-A056-870F-B31F221CC4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11" t="64700" r="235" b="12616"/>
          <a:stretch>
            <a:fillRect/>
          </a:stretch>
        </p:blipFill>
        <p:spPr>
          <a:xfrm>
            <a:off x="-33209" y="-5207"/>
            <a:ext cx="12331477" cy="8105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E91382-E6F4-8C37-BA67-B6F0BE115587}"/>
              </a:ext>
            </a:extLst>
          </p:cNvPr>
          <p:cNvSpPr txBox="1"/>
          <p:nvPr/>
        </p:nvSpPr>
        <p:spPr>
          <a:xfrm>
            <a:off x="455506" y="207817"/>
            <a:ext cx="5603374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Aptos"/>
                <a:cs typeface="Arial"/>
              </a:rPr>
              <a:t>FactoryMind : Unified Agentic AI Platform</a:t>
            </a:r>
          </a:p>
          <a:p>
            <a:endParaRPr lang="en-US" sz="1600">
              <a:solidFill>
                <a:srgbClr val="000048"/>
              </a:solidFill>
              <a:latin typeface="Aptos"/>
              <a:cs typeface="Arial"/>
            </a:endParaRPr>
          </a:p>
          <a:p>
            <a:pPr algn="l"/>
            <a:endParaRPr lang="en-IN" sz="2400">
              <a:solidFill>
                <a:schemeClr val="bg1"/>
              </a:solidFill>
              <a:latin typeface="Aptos"/>
              <a:cs typeface="Arial"/>
            </a:endParaRPr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FDC015-8B90-B79C-D9CF-714B9E465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75" b="4873"/>
          <a:stretch>
            <a:fillRect/>
          </a:stretch>
        </p:blipFill>
        <p:spPr>
          <a:xfrm>
            <a:off x="4383168" y="3571240"/>
            <a:ext cx="3747549" cy="1995712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D490FA-A25E-E048-A781-5BBDCD4E41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10" b="5895"/>
          <a:stretch>
            <a:fillRect/>
          </a:stretch>
        </p:blipFill>
        <p:spPr>
          <a:xfrm>
            <a:off x="4382009" y="1346927"/>
            <a:ext cx="3747549" cy="1995712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4CE8CD-1C3E-8359-0EAD-2BE3475DFB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703" b="3703"/>
          <a:stretch>
            <a:fillRect/>
          </a:stretch>
        </p:blipFill>
        <p:spPr>
          <a:xfrm>
            <a:off x="448106" y="3571240"/>
            <a:ext cx="3747549" cy="195188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27DB31F-1D1A-1E20-643C-69AFD0888B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967" b="3967"/>
          <a:stretch>
            <a:fillRect/>
          </a:stretch>
        </p:blipFill>
        <p:spPr>
          <a:xfrm>
            <a:off x="448107" y="1374415"/>
            <a:ext cx="3747549" cy="1940736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C283744-D9C8-9248-1348-88C3EE479906}"/>
              </a:ext>
            </a:extLst>
          </p:cNvPr>
          <p:cNvSpPr txBox="1"/>
          <p:nvPr/>
        </p:nvSpPr>
        <p:spPr>
          <a:xfrm>
            <a:off x="457970" y="5674977"/>
            <a:ext cx="289923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tx2"/>
                </a:solidFill>
                <a:latin typeface="Aptos"/>
                <a:cs typeface="Arial"/>
              </a:rPr>
              <a:t>Snapshots of Application - 2/2</a:t>
            </a:r>
            <a:endParaRPr lang="en-US" sz="1600">
              <a:solidFill>
                <a:schemeClr val="tx2"/>
              </a:solidFill>
              <a:cs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B1C124-AD83-8B62-7449-E8E9EDFE529E}"/>
              </a:ext>
            </a:extLst>
          </p:cNvPr>
          <p:cNvSpPr txBox="1"/>
          <p:nvPr/>
        </p:nvSpPr>
        <p:spPr>
          <a:xfrm>
            <a:off x="448119" y="3169164"/>
            <a:ext cx="2774174" cy="1538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  <a:cs typeface="Arial"/>
              </a:rPr>
              <a:t>Fig </a:t>
            </a:r>
            <a:r>
              <a:rPr lang="en-US" sz="1000">
                <a:solidFill>
                  <a:schemeClr val="tx2"/>
                </a:solidFill>
                <a:cs typeface="Arial"/>
              </a:rPr>
              <a:t>1.1</a:t>
            </a:r>
            <a:r>
              <a:rPr lang="en-US" sz="1000" dirty="0">
                <a:solidFill>
                  <a:schemeClr val="tx2"/>
                </a:solidFill>
                <a:cs typeface="Arial"/>
              </a:rPr>
              <a:t>: </a:t>
            </a:r>
            <a:r>
              <a:rPr lang="en-US" sz="1000">
                <a:solidFill>
                  <a:schemeClr val="tx2"/>
                </a:solidFill>
                <a:cs typeface="Arial"/>
              </a:rPr>
              <a:t>Predictive Maintenance</a:t>
            </a:r>
            <a:r>
              <a:rPr lang="en-US" sz="1000" dirty="0">
                <a:solidFill>
                  <a:schemeClr val="tx2"/>
                </a:solidFill>
                <a:cs typeface="Arial"/>
              </a:rPr>
              <a:t> Dashboard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374AE4-017C-E163-D38E-1F034F6979D0}"/>
              </a:ext>
            </a:extLst>
          </p:cNvPr>
          <p:cNvSpPr txBox="1"/>
          <p:nvPr/>
        </p:nvSpPr>
        <p:spPr>
          <a:xfrm>
            <a:off x="483019" y="5368220"/>
            <a:ext cx="2774174" cy="1538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  <a:cs typeface="Arial"/>
              </a:rPr>
              <a:t>Fig 3.1 : Quality Vision AI Dashboard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5E40CF-5BA8-AFC4-C6BB-177F1D30C6D1}"/>
              </a:ext>
            </a:extLst>
          </p:cNvPr>
          <p:cNvSpPr txBox="1"/>
          <p:nvPr/>
        </p:nvSpPr>
        <p:spPr>
          <a:xfrm>
            <a:off x="4439883" y="3188751"/>
            <a:ext cx="2774174" cy="1538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chemeClr val="tx2"/>
                </a:solidFill>
                <a:cs typeface="Arial"/>
              </a:rPr>
              <a:t>Fig 2 : Gen AI Assistant Dashboard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EC1B3D-45DB-DBB1-10D5-B62FD3142ECD}"/>
              </a:ext>
            </a:extLst>
          </p:cNvPr>
          <p:cNvSpPr txBox="1"/>
          <p:nvPr/>
        </p:nvSpPr>
        <p:spPr>
          <a:xfrm>
            <a:off x="4382009" y="5368220"/>
            <a:ext cx="2774174" cy="153888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chemeClr val="tx2"/>
                </a:solidFill>
                <a:cs typeface="Arial"/>
              </a:rPr>
              <a:t>Fig 4.1 : Overview Dashboard</a:t>
            </a:r>
          </a:p>
        </p:txBody>
      </p:sp>
      <p:pic>
        <p:nvPicPr>
          <p:cNvPr id="3" name="Picture 2" descr="A person looking at a diagram&#10;&#10;AI-generated content may be incorrect.">
            <a:extLst>
              <a:ext uri="{FF2B5EF4-FFF2-40B4-BE49-F238E27FC236}">
                <a16:creationId xmlns:a16="http://schemas.microsoft.com/office/drawing/2014/main" id="{A3BF7016-7234-E8FD-B2AA-0A1AB2ADFD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4644" y="2698418"/>
            <a:ext cx="3407621" cy="28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20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4676A-406C-39CA-495E-6A8A5A1A2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D737B-519A-27C3-364C-043F32030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E1D52-8263-37DC-502E-EFD12DAF48CA}"/>
              </a:ext>
            </a:extLst>
          </p:cNvPr>
          <p:cNvSpPr txBox="1"/>
          <p:nvPr/>
        </p:nvSpPr>
        <p:spPr>
          <a:xfrm>
            <a:off x="631784" y="724930"/>
            <a:ext cx="237374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Aptos"/>
                <a:cs typeface="Arial"/>
              </a:rPr>
              <a:t>The Journey Behind </a:t>
            </a:r>
            <a:r>
              <a:rPr lang="en-US" sz="2800" b="1" dirty="0">
                <a:solidFill>
                  <a:schemeClr val="tx2"/>
                </a:solidFill>
                <a:latin typeface="Aptos"/>
                <a:cs typeface="Arial"/>
              </a:rPr>
              <a:t>Nexus</a:t>
            </a:r>
            <a:r>
              <a:rPr lang="en-US" sz="2800" dirty="0">
                <a:solidFill>
                  <a:schemeClr val="tx2"/>
                </a:solidFill>
                <a:latin typeface="Aptos"/>
                <a:cs typeface="Arial"/>
              </a:rPr>
              <a:t>.</a:t>
            </a:r>
          </a:p>
        </p:txBody>
      </p:sp>
      <p:pic>
        <p:nvPicPr>
          <p:cNvPr id="10" name="Picture 9" descr="Clean White Background Images – Browse 16,476,037 Stock Photos, Vectors,  and Video | Adobe Stock">
            <a:extLst>
              <a:ext uri="{FF2B5EF4-FFF2-40B4-BE49-F238E27FC236}">
                <a16:creationId xmlns:a16="http://schemas.microsoft.com/office/drawing/2014/main" id="{7144AE3F-3A13-0251-B883-3ADF0483B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89" y="-5775"/>
            <a:ext cx="8767528" cy="6332684"/>
          </a:xfrm>
          <a:prstGeom prst="rect">
            <a:avLst/>
          </a:prstGeom>
        </p:spPr>
      </p:pic>
      <p:pic>
        <p:nvPicPr>
          <p:cNvPr id="2" name="Picture 1" descr="About Us - Panimalar Engineering College">
            <a:extLst>
              <a:ext uri="{FF2B5EF4-FFF2-40B4-BE49-F238E27FC236}">
                <a16:creationId xmlns:a16="http://schemas.microsoft.com/office/drawing/2014/main" id="{056BEAF4-A781-A4A7-52F9-D7FE8FBDE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89" y="1256283"/>
            <a:ext cx="3678382" cy="190419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" name="Picture 2" descr="BE Computer Science and Engineering - Panimalar Engineering College">
            <a:extLst>
              <a:ext uri="{FF2B5EF4-FFF2-40B4-BE49-F238E27FC236}">
                <a16:creationId xmlns:a16="http://schemas.microsoft.com/office/drawing/2014/main" id="{23FF8772-4EA8-6C97-E718-2F4D94C91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765" y="3605914"/>
            <a:ext cx="6281880" cy="21178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6" name="Picture 5" descr="A building with a sign on it&#10;&#10;AI-generated content may be incorrect.">
            <a:extLst>
              <a:ext uri="{FF2B5EF4-FFF2-40B4-BE49-F238E27FC236}">
                <a16:creationId xmlns:a16="http://schemas.microsoft.com/office/drawing/2014/main" id="{794E29EE-2264-F407-E871-E21A23A08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304" y="1588110"/>
            <a:ext cx="4371975" cy="2181225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2378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84A4D-9511-A781-F517-EA1790C98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2026 Cognizant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D3C9E-2840-611A-75D2-990931960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28F452-EAFF-807F-29B9-D3B0F0F70223}"/>
              </a:ext>
            </a:extLst>
          </p:cNvPr>
          <p:cNvSpPr txBox="1"/>
          <p:nvPr/>
        </p:nvSpPr>
        <p:spPr>
          <a:xfrm>
            <a:off x="631784" y="407430"/>
            <a:ext cx="447502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tx2"/>
                </a:solidFill>
                <a:latin typeface="Aptos"/>
                <a:cs typeface="Arial"/>
              </a:rPr>
              <a:t>The Journey Behind </a:t>
            </a:r>
            <a:r>
              <a:rPr lang="en-US" sz="2800" b="1">
                <a:solidFill>
                  <a:schemeClr val="tx2"/>
                </a:solidFill>
                <a:latin typeface="Aptos"/>
                <a:cs typeface="Arial"/>
              </a:rPr>
              <a:t>Nexus</a:t>
            </a:r>
            <a:r>
              <a:rPr lang="en-US" sz="2800">
                <a:solidFill>
                  <a:schemeClr val="tx2"/>
                </a:solidFill>
                <a:latin typeface="Aptos"/>
                <a:cs typeface="Arial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C7921E-4261-C8E6-D4AC-63FA3F76EE86}"/>
              </a:ext>
            </a:extLst>
          </p:cNvPr>
          <p:cNvSpPr txBox="1"/>
          <p:nvPr/>
        </p:nvSpPr>
        <p:spPr>
          <a:xfrm>
            <a:off x="902676" y="1230923"/>
            <a:ext cx="27432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600">
                <a:solidFill>
                  <a:schemeClr val="tx2"/>
                </a:solidFill>
                <a:cs typeface="Arial" panose="020B0604020202020204"/>
              </a:rPr>
              <a:t>How did we </a:t>
            </a:r>
            <a:r>
              <a:rPr lang="en-US" sz="1600" err="1">
                <a:solidFill>
                  <a:schemeClr val="tx2"/>
                </a:solidFill>
                <a:cs typeface="Arial" panose="020B0604020202020204"/>
              </a:rPr>
              <a:t>came</a:t>
            </a:r>
            <a:r>
              <a:rPr lang="en-US" sz="1600">
                <a:solidFill>
                  <a:schemeClr val="tx2"/>
                </a:solidFill>
                <a:cs typeface="Arial" panose="020B0604020202020204"/>
              </a:rPr>
              <a:t> to know about </a:t>
            </a:r>
            <a:r>
              <a:rPr lang="en-US" sz="1600" err="1">
                <a:solidFill>
                  <a:schemeClr val="tx2"/>
                </a:solidFill>
                <a:cs typeface="Arial" panose="020B0604020202020204"/>
              </a:rPr>
              <a:t>Technoverse</a:t>
            </a:r>
            <a:endParaRPr lang="en-US" sz="1600">
              <a:solidFill>
                <a:schemeClr val="tx2"/>
              </a:solidFill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F7A94-472D-C12F-2F1C-4C9CEA27C1AC}"/>
              </a:ext>
            </a:extLst>
          </p:cNvPr>
          <p:cNvSpPr txBox="1"/>
          <p:nvPr/>
        </p:nvSpPr>
        <p:spPr>
          <a:xfrm>
            <a:off x="902676" y="3313327"/>
            <a:ext cx="27432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Arial" panose="020B0604020202020204"/>
              </a:rPr>
              <a:t>2. What was the first thought while registering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36A9A-E224-39F4-A97A-98E870B49E23}"/>
              </a:ext>
            </a:extLst>
          </p:cNvPr>
          <p:cNvSpPr txBox="1"/>
          <p:nvPr/>
        </p:nvSpPr>
        <p:spPr>
          <a:xfrm>
            <a:off x="4949357" y="1219377"/>
            <a:ext cx="27432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Arial" panose="020B0604020202020204"/>
              </a:rPr>
              <a:t>3. Team Formation &amp; Round Clearing Moment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CEC8E8-098E-5F17-BCA4-65F48D343D74}"/>
              </a:ext>
            </a:extLst>
          </p:cNvPr>
          <p:cNvSpPr txBox="1"/>
          <p:nvPr/>
        </p:nvSpPr>
        <p:spPr>
          <a:xfrm>
            <a:off x="8488039" y="1230922"/>
            <a:ext cx="2743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cs typeface="Arial" panose="020B0604020202020204"/>
              </a:rPr>
              <a:t>4. Selected For Finale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01DEED-89A2-C0B7-8867-2F67A1A50C4B}"/>
              </a:ext>
            </a:extLst>
          </p:cNvPr>
          <p:cNvCxnSpPr/>
          <p:nvPr/>
        </p:nvCxnSpPr>
        <p:spPr>
          <a:xfrm>
            <a:off x="4465494" y="1353995"/>
            <a:ext cx="2309" cy="431453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D87A6C4-4E9B-5925-87D4-FCD95EE3E8E6}"/>
              </a:ext>
            </a:extLst>
          </p:cNvPr>
          <p:cNvSpPr txBox="1"/>
          <p:nvPr/>
        </p:nvSpPr>
        <p:spPr>
          <a:xfrm>
            <a:off x="2219513" y="3383281"/>
            <a:ext cx="1605100" cy="457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IN" sz="1600" dirty="0">
              <a:solidFill>
                <a:schemeClr val="tx2"/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3B4B943-DF51-18A3-5A57-F87EBF5DBB0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2675" y="1944234"/>
            <a:ext cx="301531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We first heard about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Technoverse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through College.</a:t>
            </a:r>
            <a:endParaRPr lang="en-US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The theme of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real client challenges with AI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caught our attention.</a:t>
            </a:r>
            <a:endParaRPr lang="en-US" altLang="en-US" sz="11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Mentors and peers encouraged us, highlighting it as more than just a coding </a:t>
            </a:r>
            <a:endParaRPr lang="en-US" altLang="en-US" sz="11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5EA95A-4B9D-5E73-7D41-ED394513BC15}"/>
              </a:ext>
            </a:extLst>
          </p:cNvPr>
          <p:cNvCxnSpPr>
            <a:cxnSpLocks/>
          </p:cNvCxnSpPr>
          <p:nvPr/>
        </p:nvCxnSpPr>
        <p:spPr>
          <a:xfrm>
            <a:off x="8079221" y="1371313"/>
            <a:ext cx="2309" cy="431453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3">
            <a:extLst>
              <a:ext uri="{FF2B5EF4-FFF2-40B4-BE49-F238E27FC236}">
                <a16:creationId xmlns:a16="http://schemas.microsoft.com/office/drawing/2014/main" id="{26A3B7D3-7042-ACD9-4CBD-73EEAA7EF1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54076" y="3986010"/>
            <a:ext cx="3129864" cy="1277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At first, 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+mn-lt"/>
                <a:cs typeface="+mn-lt"/>
              </a:rPr>
              <a:t>we 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honestly felt the competition would be extremely tough. 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With multiple teams participating 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+mn-lt"/>
                <a:cs typeface="+mn-lt"/>
              </a:rPr>
              <a:t>and 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only a very limited number getting selected, we thought our chances would 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+mn-lt"/>
                <a:cs typeface="+mn-lt"/>
              </a:rPr>
              <a:t>be 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quite low. 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But we still </a:t>
            </a:r>
            <a:r>
              <a:rPr lang="en-US" sz="1100" dirty="0">
                <a:latin typeface="+mj-lt"/>
                <a:ea typeface="+mn-lt"/>
                <a:cs typeface="+mn-lt"/>
              </a:rPr>
              <a:t>decided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 to give our best and take </a:t>
            </a:r>
            <a:r>
              <a:rPr kumimoji="0" lang="en-US" sz="11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  <a:ea typeface="+mn-lt"/>
                <a:cs typeface="+mn-lt"/>
              </a:rPr>
              <a:t>the 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opportunity seriously.</a:t>
            </a:r>
            <a:endParaRPr lang="en-US" sz="1100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FACBCF81-0380-CF73-29AB-EBFDA824A5F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46199" y="1852099"/>
            <a:ext cx="2826513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carefully chose teammates with complementary skills – AI, coding, design, and presentation.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brainstorming sessions helped us align on the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FactoryMind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Late-night debates shaped our architecture and strengthened our bond.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round tested our technical depth and teamwork under pressure.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Clearing the first round gave us confidence that our idea had real potential.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Advancing further proved our solution was not just innovative but practical.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round win felt like validation of our hard work and unity.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0B748ADF-2C68-D0E7-594B-9D4A4DF678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252769" y="1711820"/>
            <a:ext cx="379447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Recognition of Talent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Being chosen for the finale shows your skills and hard work have been acknowledged.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Competitive Edge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Outperformed many participants to reach the final stage.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 &amp; Dedication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Demonstrated sustained effort and commitment throughout the competition.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Visibility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Opportunity to showcase abilities in front of judges, peers, and a larger audience.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&amp; Growth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Gained valuable experience and improved through each round.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Motivation for Excellence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Selection boosts confidence and inspires further achievements.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Team/Individual Pride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Represents success not only for yourself but also for your institution or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Gateway to Opportunities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Finale participation can open doors to internships, projects, or recognition.</a:t>
            </a:r>
          </a:p>
        </p:txBody>
      </p:sp>
    </p:spTree>
    <p:extLst>
      <p:ext uri="{BB962C8B-B14F-4D97-AF65-F5344CB8AC3E}">
        <p14:creationId xmlns:p14="http://schemas.microsoft.com/office/powerpoint/2010/main" val="7344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365335"/>
            <a:ext cx="6053327" cy="923330"/>
          </a:xfrm>
        </p:spPr>
        <p:txBody>
          <a:bodyPr/>
          <a:lstStyle/>
          <a:p>
            <a:r>
              <a:rPr lang="en-US">
                <a:latin typeface="Aptos"/>
              </a:rPr>
              <a:t>Thank you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572D9-700A-7FEC-1F56-7C7C66759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B3EE0-4971-0D8C-F534-22A0ECF9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B4A56-62F4-14FD-95D6-FEAFEF4C08A9}"/>
              </a:ext>
            </a:extLst>
          </p:cNvPr>
          <p:cNvSpPr txBox="1"/>
          <p:nvPr/>
        </p:nvSpPr>
        <p:spPr>
          <a:xfrm>
            <a:off x="3050639" y="3580410"/>
            <a:ext cx="274320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Calibri"/>
              <a:buChar char="-"/>
            </a:pPr>
            <a:r>
              <a:rPr lang="en-IN" sz="1600" i="0" u="none" strike="noStrike" baseline="0">
                <a:solidFill>
                  <a:srgbClr val="000048"/>
                </a:solidFill>
                <a:latin typeface="Aptos"/>
              </a:rPr>
              <a:t>Skynet Nexus</a:t>
            </a:r>
            <a:r>
              <a:rPr lang="en-IN" sz="1600" b="0" i="0">
                <a:solidFill>
                  <a:srgbClr val="000048"/>
                </a:solidFill>
                <a:latin typeface="Aptos"/>
                <a:ea typeface="Aptos"/>
                <a:cs typeface="Aptos"/>
              </a:rPr>
              <a:t>​</a:t>
            </a:r>
            <a:endParaRPr lang="en-US" sz="1600">
              <a:solidFill>
                <a:srgbClr val="000048"/>
              </a:solidFill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1035EC-6D18-44A4-BB42-C9DEBF2D5983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13f2c8c6-9aca-4830-85ce-a55535ee011e"/>
    <ds:schemaRef ds:uri="http://purl.org/dc/terms/"/>
    <ds:schemaRef ds:uri="http://schemas.openxmlformats.org/package/2006/metadata/core-properties"/>
    <ds:schemaRef ds:uri="0a84972d-ef8c-45a9-9686-55cfd8231be0"/>
    <ds:schemaRef ds:uri="3c35e321-f73a-4dae-ae38-a0459de24735"/>
  </ds:schemaRefs>
</ds:datastoreItem>
</file>

<file path=customXml/itemProps2.xml><?xml version="1.0" encoding="utf-8"?>
<ds:datastoreItem xmlns:ds="http://schemas.openxmlformats.org/officeDocument/2006/customXml" ds:itemID="{DB24D5D3-2BE3-4278-95F2-2A2616C3D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84972d-ef8c-45a9-9686-55cfd8231be0"/>
    <ds:schemaRef ds:uri="1eec79b3-321e-4dfa-8d23-6bc73fc62350"/>
    <ds:schemaRef ds:uri="3c35e321-f73a-4dae-ae38-a0459de24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7117</TotalTime>
  <Words>1039</Words>
  <Application>Microsoft Office PowerPoint</Application>
  <PresentationFormat>Widescreen</PresentationFormat>
  <Paragraphs>220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</vt:lpstr>
      <vt:lpstr>1_Office Theme</vt:lpstr>
      <vt:lpstr>2_Office Theme</vt:lpstr>
      <vt:lpstr>MVP Presentation : Skynet Nexus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dc:creator>DEEKSHITHA G</dc:creator>
  <cp:keywords/>
  <dc:description/>
  <cp:lastModifiedBy>DEEKSHITHA G</cp:lastModifiedBy>
  <cp:revision>5</cp:revision>
  <dcterms:created xsi:type="dcterms:W3CDTF">2022-04-01T05:31:57Z</dcterms:created>
  <dcterms:modified xsi:type="dcterms:W3CDTF">2026-05-06T17:45:00Z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